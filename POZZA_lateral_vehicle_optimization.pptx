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306" r:id="rId8"/>
    <p:sldId id="307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83" r:id="rId37"/>
    <p:sldId id="297" r:id="rId38"/>
    <p:sldId id="298" r:id="rId39"/>
    <p:sldId id="299" r:id="rId40"/>
    <p:sldId id="301" r:id="rId41"/>
    <p:sldId id="302" r:id="rId42"/>
    <p:sldId id="303" r:id="rId43"/>
    <p:sldId id="304" r:id="rId44"/>
    <p:sldId id="305" r:id="rId45"/>
    <p:sldId id="308" r:id="rId46"/>
    <p:sldId id="309" r:id="rId47"/>
    <p:sldId id="310" r:id="rId48"/>
    <p:sldId id="311" r:id="rId49"/>
    <p:sldId id="284" r:id="rId50"/>
    <p:sldId id="285" r:id="rId5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7F05"/>
    <a:srgbClr val="851810"/>
    <a:srgbClr val="5C6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BB5EAD-08D5-EBF3-5ECF-F26AD3258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9776695-EA14-E862-3CE1-4D3BCC1F9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57190E-C8A1-9B38-A779-2B4174D9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5AAC65-76EB-6852-F2F6-AB8B3EDF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12CF2D-172A-308C-2199-B6160748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086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D80634-C99B-C5EF-1A0E-36DE053D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5EC4F6-392E-3820-7F6E-A06A855EB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EC920A-1F2F-BC4E-AD27-64CAE6E0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96E5DD-83D8-4585-1613-5C597215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FA5D60-22DD-C5BB-06BE-A0AB4833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963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36CE39-B226-D885-8C04-8C2D7FF4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123F05-F640-76BA-B506-F79C96A2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20032F-26FE-6340-3E35-1BCA68D0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81FA14-0FFC-BBD1-F744-8E507E1B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C33052C-09A0-6C02-CCE2-2E327166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85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3DD45C-DA97-BDD7-0D87-4255682B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409E9B-42A3-D5C1-3BC9-23DB21DD6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D1292D-FE21-C8A3-CB4D-66DFF8711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9FDAD8-52EF-7B60-A650-42522694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C53B7D-D632-8E10-587A-C2DF1017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8311FE-CA25-20C1-4582-05EAE2F9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167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D222D0-07AB-7325-4A45-FDBCB9BC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CCA0B0-92FF-A594-4BFE-5F81F845E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6FFDB1-BFF5-3E8C-2EF7-158F4ADB9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4ECDCE2-E294-E1EA-B804-F0CAAB381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1F6BAE5-6788-17AA-89AA-BE54294DB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14B16C8-1889-50E9-9126-66FD8858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1E3C506-030C-B002-FD25-1E326AC7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083D75-776D-3776-BD39-B467DD53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091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40A628-70CA-443B-1EF9-FC04AE70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6CB53C5-9780-E30F-7AF7-C977EE3A5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D28ED1C-A23F-021C-303A-31C2AD1D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F4D434F-58ED-20AE-BEE2-9D909D5B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9361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F3590DF-7EB7-C1C8-5F38-5630BFE0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CF8B928-9B13-F423-E14A-6B493642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BF6276-2A50-7B3C-3557-7D0325CE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609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678FAE-0877-EC88-7410-F4D3727E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F39008-6D4D-1108-17D7-6872C32FA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9D64702-F766-185C-5DC4-DD7BAC18E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9C0F59-99F6-C627-5CBF-B0A66195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CE29639-DA3B-4B4B-B8C2-37B10B50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88EC877-FFBC-DD25-2B3F-EB1AF402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436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E7F32B-7D4F-1B2A-2960-1F832747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2B7FE1F-BA85-F7FE-E940-670B7834B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FD35263-04CA-543F-6B39-6E37678C5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306504C-DD2A-6222-94FC-F6812F68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7BE511E-59BB-C788-E778-E90765C4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75F70F6-8428-5FD1-1260-4AB65209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052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31D38-0B5F-F8D5-FC66-F601C694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A69369-8824-9F13-C0EF-BCAE8EDA4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578E07-F923-E439-5FA0-5F308EBD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49E28D-4450-078E-CDC7-28631B721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681959-6DDD-72D0-CAD8-A26BAE36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784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EAB8CFF-B41A-DB9C-7328-8016DAB31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77B8C3-4D29-850B-E1EF-EE685A9B2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E9563B-3C10-61F4-A37B-F9EA4655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E78EBB-2A0F-AEEF-74FF-AA421E64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86CEFB-87A1-DA9C-7BD1-77B4CE087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366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BC7FCCE-62C5-E096-0C8C-F646BEFE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63A7B4-E267-5E40-67D3-B88C3B2A8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EB339DD-DD9E-7825-1841-9DC2FD706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91C62-DF66-402E-A989-4B22CA6E4869}" type="datetimeFigureOut">
              <a:rPr lang="it-IT" smtClean="0"/>
              <a:t>17/04/2026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F65E1A-2BC6-3DEC-0814-0EC4FD905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4F7F9D-77FC-21F6-736E-744B1859C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EF87E-1CAF-423A-B1B2-D9316ACD81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279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42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718A750D-12FF-E5B9-26A4-7C0A262D954C}"/>
              </a:ext>
            </a:extLst>
          </p:cNvPr>
          <p:cNvSpPr/>
          <p:nvPr/>
        </p:nvSpPr>
        <p:spPr>
          <a:xfrm>
            <a:off x="-128331" y="2595616"/>
            <a:ext cx="11234057" cy="19993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5E02000-A86C-097B-318F-FA9B9ABF12EE}"/>
              </a:ext>
            </a:extLst>
          </p:cNvPr>
          <p:cNvSpPr txBox="1">
            <a:spLocks/>
          </p:cNvSpPr>
          <p:nvPr/>
        </p:nvSpPr>
        <p:spPr>
          <a:xfrm>
            <a:off x="641180" y="2751381"/>
            <a:ext cx="10909640" cy="168781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LATERAL VEHICLE TRAJECTORY OPTIMIZATION USING CONSTRAINED LINEAR TIME-VARYING MPC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EC8323D-8D9C-5872-3523-58B505E7D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908" y="520174"/>
            <a:ext cx="6439588" cy="99813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95494C5-3914-6A85-AA5C-9AAFAC61199C}"/>
              </a:ext>
            </a:extLst>
          </p:cNvPr>
          <p:cNvSpPr txBox="1"/>
          <p:nvPr/>
        </p:nvSpPr>
        <p:spPr>
          <a:xfrm>
            <a:off x="641180" y="5318322"/>
            <a:ext cx="22557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>
                <a:latin typeface="Miriam" panose="020F0502020204030204" pitchFamily="34" charset="-79"/>
                <a:cs typeface="Miriam" panose="020F0502020204030204" pitchFamily="34" charset="-79"/>
              </a:rPr>
              <a:t>Student</a:t>
            </a:r>
            <a:r>
              <a:rPr lang="it-IT" sz="2000" b="1" dirty="0">
                <a:latin typeface="Miriam" panose="020F0502020204030204" pitchFamily="34" charset="-79"/>
                <a:cs typeface="Miriam" panose="020F0502020204030204" pitchFamily="34" charset="-79"/>
              </a:rPr>
              <a:t>:</a:t>
            </a:r>
          </a:p>
          <a:p>
            <a:r>
              <a:rPr lang="it-IT" sz="2000" dirty="0">
                <a:latin typeface="Miriam" panose="020F0502020204030204" pitchFamily="34" charset="-79"/>
                <a:cs typeface="Miriam" panose="020F0502020204030204" pitchFamily="34" charset="-79"/>
              </a:rPr>
              <a:t>Michelangelo Pozza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CC9A84A-800F-5D6B-3CC0-777C104AB8B8}"/>
              </a:ext>
            </a:extLst>
          </p:cNvPr>
          <p:cNvSpPr txBox="1"/>
          <p:nvPr/>
        </p:nvSpPr>
        <p:spPr>
          <a:xfrm>
            <a:off x="641180" y="5983883"/>
            <a:ext cx="1257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latin typeface="Miriam" panose="020F0502020204030204" pitchFamily="34" charset="-79"/>
                <a:cs typeface="Miriam" panose="020F0502020204030204" pitchFamily="34" charset="-79"/>
              </a:rPr>
              <a:t>ID:</a:t>
            </a:r>
          </a:p>
          <a:p>
            <a:r>
              <a:rPr lang="it-IT" sz="2000" dirty="0">
                <a:latin typeface="Miriam" panose="020F0502020204030204" pitchFamily="34" charset="-79"/>
                <a:cs typeface="Miriam" panose="020F0502020204030204" pitchFamily="34" charset="-79"/>
              </a:rPr>
              <a:t>IN2300012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D1087AD-B641-0385-D73B-1EDAE001EF45}"/>
              </a:ext>
            </a:extLst>
          </p:cNvPr>
          <p:cNvSpPr txBox="1"/>
          <p:nvPr/>
        </p:nvSpPr>
        <p:spPr>
          <a:xfrm>
            <a:off x="9173246" y="5318322"/>
            <a:ext cx="23775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2000" b="1" dirty="0" err="1">
                <a:latin typeface="Miriam" panose="020F0502020204030204" pitchFamily="34" charset="-79"/>
                <a:cs typeface="Miriam" panose="020F0502020204030204" pitchFamily="34" charset="-79"/>
              </a:rPr>
              <a:t>Teacher</a:t>
            </a:r>
            <a:r>
              <a:rPr lang="it-IT" sz="2000" b="1" dirty="0">
                <a:latin typeface="Miriam" panose="020F0502020204030204" pitchFamily="34" charset="-79"/>
                <a:cs typeface="Miriam" panose="020F0502020204030204" pitchFamily="34" charset="-79"/>
              </a:rPr>
              <a:t>:</a:t>
            </a:r>
          </a:p>
          <a:p>
            <a:pPr algn="r"/>
            <a:r>
              <a:rPr lang="it-IT" sz="2000" dirty="0">
                <a:latin typeface="Miriam" panose="020F0502020204030204" pitchFamily="34" charset="-79"/>
                <a:cs typeface="Miriam" panose="020F0502020204030204" pitchFamily="34" charset="-79"/>
              </a:rPr>
              <a:t>Prof. Davide Martino</a:t>
            </a:r>
          </a:p>
          <a:p>
            <a:pPr algn="r"/>
            <a:r>
              <a:rPr lang="it-IT" sz="2000" dirty="0">
                <a:latin typeface="Miriam" panose="020F0502020204030204" pitchFamily="34" charset="-79"/>
                <a:cs typeface="Miriam" panose="020F0502020204030204" pitchFamily="34" charset="-79"/>
              </a:rPr>
              <a:t>Raimondo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74F2117E-71E7-C28D-754F-971892FCD9F0}"/>
              </a:ext>
            </a:extLst>
          </p:cNvPr>
          <p:cNvSpPr/>
          <p:nvPr/>
        </p:nvSpPr>
        <p:spPr>
          <a:xfrm>
            <a:off x="11768536" y="275120"/>
            <a:ext cx="945978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416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6CF92-93F1-2404-C6BD-79E62DAB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B776D995-D2D2-1A48-8D87-0F4C58974525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9DCE064-CBD6-AE6B-67BF-CA209408CACE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INTRODUCTION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2D30A64-51FC-C3E1-A92F-61EABE68240B}"/>
              </a:ext>
            </a:extLst>
          </p:cNvPr>
          <p:cNvSpPr txBox="1"/>
          <p:nvPr/>
        </p:nvSpPr>
        <p:spPr>
          <a:xfrm>
            <a:off x="575187" y="2507226"/>
            <a:ext cx="1027962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In recent years, autonomous driving has advanced rapidly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Research in this field focuses on trajectory generation algorithms that can cope with complex traffic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goal is to optimize the lateral vehicle distance from a reference curve in order to avoid obstacles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authors of this paper decided to use the formulation of a linear-quadratic optimal control problem for trajectory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main technique we will see it is </a:t>
            </a:r>
            <a:r>
              <a:rPr lang="en-US" sz="2400" b="1" dirty="0">
                <a:latin typeface="Miriam" panose="020B0502050101010101" pitchFamily="34" charset="-79"/>
                <a:cs typeface="Miriam" panose="020B0502050101010101" pitchFamily="34" charset="-79"/>
              </a:rPr>
              <a:t>LMPC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8F7A15A-D1EA-4E91-F81F-A4A7DD6D469F}"/>
              </a:ext>
            </a:extLst>
          </p:cNvPr>
          <p:cNvCxnSpPr/>
          <p:nvPr/>
        </p:nvCxnSpPr>
        <p:spPr>
          <a:xfrm>
            <a:off x="1002890" y="6445045"/>
            <a:ext cx="11189110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B639CD9-714B-CA4B-B301-EAB0BF5ABB95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7121AA0-7DFF-45CC-E4A1-DBCBE94AC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61275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D3ED-7E9C-A333-32E3-DB6267C4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37C25849-204F-1F92-8220-9B8AEB3FD801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A9F6447-A467-1AF1-7201-1415C1E735B3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1. TRAJECTORY GENERATION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D68DEC56-FF5F-8A51-CAD4-D56B4CCBBB95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8DED80C-9B38-5440-AE10-66A0FB362F2C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D77B4C6-5C00-C28C-19BD-F01C7573A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5FA4D16-F199-77D6-159A-F9B8C6983EC9}"/>
              </a:ext>
            </a:extLst>
          </p:cNvPr>
          <p:cNvSpPr txBox="1"/>
          <p:nvPr/>
        </p:nvSpPr>
        <p:spPr>
          <a:xfrm>
            <a:off x="575187" y="2507226"/>
            <a:ext cx="1027962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nominal trajectories used in the optimization problems were recorded with a real vehicle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Also, constraints and obstacles were recorded with advanced technologies like laser scanners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velocity profile was recorded and give it to the system’s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8537585-5166-3C45-1D74-7F1E1C0C2CE2}"/>
              </a:ext>
            </a:extLst>
          </p:cNvPr>
          <p:cNvSpPr txBox="1"/>
          <p:nvPr/>
        </p:nvSpPr>
        <p:spPr>
          <a:xfrm>
            <a:off x="1090913" y="4713886"/>
            <a:ext cx="3185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TRAJECTORIES?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B1D2505-4E2E-A10A-85FE-0DD90C06B79C}"/>
              </a:ext>
            </a:extLst>
          </p:cNvPr>
          <p:cNvSpPr txBox="1"/>
          <p:nvPr/>
        </p:nvSpPr>
        <p:spPr>
          <a:xfrm>
            <a:off x="4116087" y="5579466"/>
            <a:ext cx="3800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VELOCITY PROFILES?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D597E95-A880-1968-A477-2229450E38BF}"/>
              </a:ext>
            </a:extLst>
          </p:cNvPr>
          <p:cNvSpPr txBox="1"/>
          <p:nvPr/>
        </p:nvSpPr>
        <p:spPr>
          <a:xfrm>
            <a:off x="7705563" y="4713887"/>
            <a:ext cx="3800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CONSTRAINTS?</a:t>
            </a:r>
          </a:p>
        </p:txBody>
      </p:sp>
    </p:spTree>
    <p:extLst>
      <p:ext uri="{BB962C8B-B14F-4D97-AF65-F5344CB8AC3E}">
        <p14:creationId xmlns:p14="http://schemas.microsoft.com/office/powerpoint/2010/main" val="251341561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38F2-9B4A-91E1-FB17-C997BCC6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4FF7D226-0FC0-2AA5-8792-67C1434467E6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3616AAD-74B4-1527-6297-82C47374C33D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1. TRAJECTORY GENERATION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1DFA80F-7D07-1ED8-EB08-4764E573228A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6C989B5-DDE8-8D50-A958-63E1D350A289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D4A0FDD-20ED-5311-67BA-4F90105B2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914D4A9-FB0A-7386-2B2D-94CC12B32270}"/>
              </a:ext>
            </a:extLst>
          </p:cNvPr>
          <p:cNvSpPr txBox="1"/>
          <p:nvPr/>
        </p:nvSpPr>
        <p:spPr>
          <a:xfrm>
            <a:off x="559971" y="2087189"/>
            <a:ext cx="3185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TRAJECTORIES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DF5A191-75F2-DE09-5C87-579E9686CF2E}"/>
              </a:ext>
            </a:extLst>
          </p:cNvPr>
          <p:cNvSpPr txBox="1"/>
          <p:nvPr/>
        </p:nvSpPr>
        <p:spPr>
          <a:xfrm>
            <a:off x="559971" y="2838697"/>
            <a:ext cx="481799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How can we compute a feasible trajectory?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papers introduce some concepts like the curvature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Maybe there exists some advanced tool that can be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02B1C02-E0CD-2103-F24B-ED0125A9DF73}"/>
              </a:ext>
            </a:extLst>
          </p:cNvPr>
          <p:cNvSpPr txBox="1"/>
          <p:nvPr/>
        </p:nvSpPr>
        <p:spPr>
          <a:xfrm>
            <a:off x="3187056" y="4713640"/>
            <a:ext cx="10279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6" name="Immagine 5" descr="Immagine che contiene schizzo, disegn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C48F6F61-0BA3-2B4D-C3D2-5F5AC9862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171" y="2733520"/>
            <a:ext cx="5122882" cy="246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6842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6E4D-C9CF-F347-3083-CBC67A0D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15E695CF-643A-4802-73F2-87637798A3BF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E21231-5FFD-D982-7E7D-0C46161ED47C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1. TRAJECTORY GENERATION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CB2BEA37-20D1-FA38-0FDE-C5F33AB6772D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08EB93C-B52F-C0C0-E880-B6794E3B16A0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6D1E9CE-5D38-2A14-0932-CA838183A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FC0C023-F9AE-2502-7291-360B66C6EFFA}"/>
              </a:ext>
            </a:extLst>
          </p:cNvPr>
          <p:cNvSpPr txBox="1"/>
          <p:nvPr/>
        </p:nvSpPr>
        <p:spPr>
          <a:xfrm>
            <a:off x="559971" y="2087189"/>
            <a:ext cx="1057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TRAJECTORIES: ARCH-LENGTH PARAMETRIZATION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0CDD1B0-F25D-C61D-2393-C489A37C99B5}"/>
              </a:ext>
            </a:extLst>
          </p:cNvPr>
          <p:cNvSpPr txBox="1"/>
          <p:nvPr/>
        </p:nvSpPr>
        <p:spPr>
          <a:xfrm>
            <a:off x="3187056" y="4713640"/>
            <a:ext cx="10279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6" name="Immagine 5" descr="Immagine che contiene schizzo, disegn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1818413-B53B-3C3F-07E4-C52B74C14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171" y="2733520"/>
            <a:ext cx="5122882" cy="246773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50622FC-60E7-16C6-104B-307C3900C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64" y="2977470"/>
            <a:ext cx="4720042" cy="24366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14E05291-0AE0-44D9-2C4C-E597A2260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64" y="3237805"/>
            <a:ext cx="2449486" cy="238248"/>
          </a:xfrm>
          <a:prstGeom prst="rect">
            <a:avLst/>
          </a:prstGeom>
        </p:spPr>
      </p:pic>
      <p:pic>
        <p:nvPicPr>
          <p:cNvPr id="17" name="Immagine 16" descr="Immagine che contiene Carattere, tipografi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ACD02287-563D-5DF8-3311-9E3CDFDF9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15" y="5543867"/>
            <a:ext cx="2819774" cy="555538"/>
          </a:xfrm>
          <a:prstGeom prst="rect">
            <a:avLst/>
          </a:prstGeom>
        </p:spPr>
      </p:pic>
      <p:pic>
        <p:nvPicPr>
          <p:cNvPr id="19" name="Immagine 18" descr="Immagine che contiene Carattere, bianco, test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FFB1B81A-B0BB-F6B6-7AD7-79B606A7E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8121" y="5442687"/>
            <a:ext cx="1892676" cy="799492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7710CF9-855E-DF24-3446-216C5F8DC37D}"/>
              </a:ext>
            </a:extLst>
          </p:cNvPr>
          <p:cNvSpPr txBox="1"/>
          <p:nvPr/>
        </p:nvSpPr>
        <p:spPr>
          <a:xfrm>
            <a:off x="371949" y="4553231"/>
            <a:ext cx="4817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In practice,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given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 a set of points in the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Cartesian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plane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we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 can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write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arc-length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parametrization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dirty="0" err="1">
                <a:latin typeface="Miriam" panose="020B0502050101010101" pitchFamily="34" charset="-79"/>
                <a:cs typeface="Miriam" panose="020B0502050101010101" pitchFamily="34" charset="-79"/>
              </a:rPr>
              <a:t>as</a:t>
            </a:r>
            <a:r>
              <a:rPr lang="it-IT" dirty="0">
                <a:latin typeface="Miriam" panose="020B0502050101010101" pitchFamily="34" charset="-79"/>
                <a:cs typeface="Miriam" panose="020B0502050101010101" pitchFamily="34" charset="-79"/>
              </a:rPr>
              <a:t>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4468AFA-A1E1-E040-0CEC-451E4A31FB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312" y="3631811"/>
            <a:ext cx="32194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71262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3632-D62A-B630-53D1-C626D46C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B7F71E51-94C0-7972-D793-047E052BA7F9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6E04EBA-05AA-EC68-9D8D-C52E73F0464B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1. TRAJECTORY GENERATION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03CD584B-A1DF-6C27-7ABC-7D61C6B19578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3182D37-6A4A-27DA-258A-76AD1987CA25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A3E3357-0B99-3FD7-CECF-AFC81E06C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08117E8-446E-77AA-3D08-4A92925D584F}"/>
              </a:ext>
            </a:extLst>
          </p:cNvPr>
          <p:cNvSpPr txBox="1"/>
          <p:nvPr/>
        </p:nvSpPr>
        <p:spPr>
          <a:xfrm>
            <a:off x="559971" y="2087189"/>
            <a:ext cx="1057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TRAJECTORIES: ARCH-LENGTH PARAMETRIZATION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014A0E8-602A-855C-5DEA-3E5CC0C5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64" y="2977470"/>
            <a:ext cx="4720042" cy="24366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2F807AD9-5E84-C52E-2D16-EAA837393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64" y="3237805"/>
            <a:ext cx="2449486" cy="23824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B86BB3D4-51DA-1C7A-FFB4-29C989AA9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217" y="3631811"/>
            <a:ext cx="3219450" cy="88582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88641C1-6EA1-9155-3581-8CC01471A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217" y="4595515"/>
            <a:ext cx="3619500" cy="885825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EB944137-4D93-B2EF-1BE6-7FDF638984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9490" y="2776191"/>
            <a:ext cx="4802017" cy="3308745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49C794B-4BB0-FF46-6C99-D2D4C339E881}"/>
              </a:ext>
            </a:extLst>
          </p:cNvPr>
          <p:cNvSpPr txBox="1"/>
          <p:nvPr/>
        </p:nvSpPr>
        <p:spPr>
          <a:xfrm>
            <a:off x="1293217" y="5559219"/>
            <a:ext cx="4135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Tangent</a:t>
            </a:r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 and </a:t>
            </a:r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Normal</a:t>
            </a:r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 </a:t>
            </a:r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vector</a:t>
            </a:r>
            <a:endParaRPr lang="it-IT" sz="3200" dirty="0">
              <a:solidFill>
                <a:schemeClr val="accent5">
                  <a:lumMod val="75000"/>
                </a:schemeClr>
              </a:solidFill>
              <a:latin typeface="Rockwell Nova Cond" panose="02060506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281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F719-45E6-AC7E-3B41-9E73417D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0EFB88A2-FCBF-FC25-EFAC-44C99392E398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B6E4985-37A1-CF01-1BF0-F96EBFD09E2E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1. TRAJECTORY GENERATION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812B04B-38A7-0500-3F3A-BAAC6A7006EC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DF9E48A-A6D6-9D9E-21C0-58557CFE9FA8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548B8AA-1DF3-646D-4ADD-B37C64763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8514FFD-4B68-4F0B-C897-4A85211228BD}"/>
              </a:ext>
            </a:extLst>
          </p:cNvPr>
          <p:cNvSpPr txBox="1"/>
          <p:nvPr/>
        </p:nvSpPr>
        <p:spPr>
          <a:xfrm>
            <a:off x="559971" y="2087189"/>
            <a:ext cx="1057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TRAJECTORIES: ARCH-LENGTH PARAMETRIZATION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7D340B1-4C2A-E232-E1E0-66D80FB7B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64" y="2977470"/>
            <a:ext cx="4720042" cy="24366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2F807B7D-A3F7-AEB2-5B59-DFA30BF54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64" y="3237805"/>
            <a:ext cx="2449486" cy="238248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F2F0CDA-A6A8-9431-B2AE-E6C576B0BD0D}"/>
              </a:ext>
            </a:extLst>
          </p:cNvPr>
          <p:cNvSpPr txBox="1"/>
          <p:nvPr/>
        </p:nvSpPr>
        <p:spPr>
          <a:xfrm>
            <a:off x="4994225" y="4788630"/>
            <a:ext cx="2021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The curvature!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F7F49B8-1ED4-5B9F-5531-F3F5E9765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217" y="3631811"/>
            <a:ext cx="3219450" cy="885825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651EBDB0-14E0-902E-D830-11BB62612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217" y="4673394"/>
            <a:ext cx="3448050" cy="809625"/>
          </a:xfrm>
          <a:prstGeom prst="rect">
            <a:avLst/>
          </a:prstGeom>
          <a:solidFill>
            <a:schemeClr val="accent2"/>
          </a:solidFill>
          <a:ln w="28575">
            <a:solidFill>
              <a:srgbClr val="7030A0"/>
            </a:solidFill>
          </a:ln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1484F6D-6638-8D86-9D4C-D0B035721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0496" y="2796026"/>
            <a:ext cx="5140537" cy="350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660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6F561-0144-41D3-5338-0C82A179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85C22FA6-730C-B7C1-C306-5E9EF092B114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61AFEE-5B95-2F90-10CE-48DD41EE7248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1. TRAJECTORY GENERATION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9F53ADA-ED7F-76F0-B88C-35649EB6EFA0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0E895C-E55B-EEC5-3CCB-AA6E4D738792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C890C3C-1F11-BA88-E5B4-06BACFC38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5829D24-A7BC-4171-C996-BA3D7B56A34A}"/>
              </a:ext>
            </a:extLst>
          </p:cNvPr>
          <p:cNvSpPr txBox="1"/>
          <p:nvPr/>
        </p:nvSpPr>
        <p:spPr>
          <a:xfrm>
            <a:off x="559971" y="2087189"/>
            <a:ext cx="10579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TRAJECTORIES: ARCH-LENGTH PARAMETRIZATION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7A6D06DF-A986-8929-08DA-C41BE99CE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64" y="2977470"/>
            <a:ext cx="4720042" cy="24366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75C3B058-1A22-AFCA-CD65-11557DB8B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64" y="3237805"/>
            <a:ext cx="2449486" cy="23824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F47638F-229B-CAEE-45BA-E8BB9AFA9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217" y="3631811"/>
            <a:ext cx="3219450" cy="885825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AC88E9FB-4530-0FBB-8A08-DEE5C85EA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217" y="4673394"/>
            <a:ext cx="3448050" cy="809625"/>
          </a:xfrm>
          <a:prstGeom prst="rect">
            <a:avLst/>
          </a:prstGeom>
          <a:solidFill>
            <a:schemeClr val="accent2"/>
          </a:solidFill>
          <a:ln w="28575">
            <a:solidFill>
              <a:srgbClr val="7030A0"/>
            </a:solidFill>
          </a:ln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DA25F69-9204-52D8-A99D-E072A44FB9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7213" y="4635293"/>
            <a:ext cx="3048000" cy="885825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90C09C53-937C-D26F-DF62-4A43866B52CC}"/>
              </a:ext>
            </a:extLst>
          </p:cNvPr>
          <p:cNvSpPr/>
          <p:nvPr/>
        </p:nvSpPr>
        <p:spPr>
          <a:xfrm>
            <a:off x="4994788" y="4796737"/>
            <a:ext cx="1981199" cy="487610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2012162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211D-DD1F-85BD-70FD-F9AF75F9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CD41D593-72B5-422A-4884-C578BA3CC495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777F88C-CFBF-175A-2851-2DEF4A9D0105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1. TRAJECTORY GENERATION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E8D6D56-E089-F32C-935A-74CA7174A9E2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BAF399F-2A8F-9599-2A68-01E07BB72668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4FA5554-DFAB-C196-B6C9-71A2A0788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F46C44D-049A-8C79-30A4-E224E5FD2837}"/>
              </a:ext>
            </a:extLst>
          </p:cNvPr>
          <p:cNvSpPr txBox="1"/>
          <p:nvPr/>
        </p:nvSpPr>
        <p:spPr>
          <a:xfrm>
            <a:off x="559971" y="2087189"/>
            <a:ext cx="3466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VELOCITY PROFILES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5650642-D3C1-9292-5784-374FD06289EE}"/>
              </a:ext>
            </a:extLst>
          </p:cNvPr>
          <p:cNvSpPr txBox="1"/>
          <p:nvPr/>
        </p:nvSpPr>
        <p:spPr>
          <a:xfrm>
            <a:off x="559971" y="2838697"/>
            <a:ext cx="481799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If we are in a straight road, it is very likely that we will go 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If we are close to a curve, we may prefer to go slower and safer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Is there any way to generate a proper velocity profile?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6" name="Immagine 5" descr="Immagine che contiene schizzo, disegn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2EB317DC-9A45-2DA7-C81A-5AED2E070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171" y="2733520"/>
            <a:ext cx="5122882" cy="246773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89D5B3-9367-53C0-FD1C-EB3F04F4B289}"/>
              </a:ext>
            </a:extLst>
          </p:cNvPr>
          <p:cNvSpPr txBox="1"/>
          <p:nvPr/>
        </p:nvSpPr>
        <p:spPr>
          <a:xfrm>
            <a:off x="947460" y="5313754"/>
            <a:ext cx="6205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Yes, </a:t>
            </a:r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but</a:t>
            </a:r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 </a:t>
            </a:r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we</a:t>
            </a:r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 </a:t>
            </a:r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will</a:t>
            </a:r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 use </a:t>
            </a:r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constant</a:t>
            </a:r>
            <a:r>
              <a:rPr lang="it-IT" sz="32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 </a:t>
            </a:r>
            <a:r>
              <a:rPr lang="it-IT" sz="32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</a:rPr>
              <a:t>velocities</a:t>
            </a:r>
            <a:endParaRPr lang="it-IT" sz="3200" dirty="0">
              <a:solidFill>
                <a:schemeClr val="accent5">
                  <a:lumMod val="75000"/>
                </a:schemeClr>
              </a:solidFill>
              <a:latin typeface="Rockwell Nova Cond" panose="02060506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56444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45BA-4A80-224F-A26D-EC7A6321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11F8201A-ACF2-E1B9-5EAC-F4E8AF0C3FC7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B84D505-1886-8FE8-C6A9-12638524AB86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4DEE7F1-F677-82B2-E4E3-CA9B51A7A2C7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2D8BECE-0760-B7EB-077D-14FA111B881B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BE1D2D5-01D2-D97A-5D13-A76397AF4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DBE952B-020B-2628-2158-07F38C9BA105}"/>
              </a:ext>
            </a:extLst>
          </p:cNvPr>
          <p:cNvSpPr txBox="1"/>
          <p:nvPr/>
        </p:nvSpPr>
        <p:spPr>
          <a:xfrm>
            <a:off x="575187" y="2507226"/>
            <a:ext cx="102796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To predict and optimize the vehicle trajectory; we first need to find a mathematical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authors decided to consider a reference point on the car that coincides with the vehicle’s rear axle center to derive kinematic equations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Let’s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plan the future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vehicle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motion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locally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goal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optimize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vehicle’s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lateral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trajectory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from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nominal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one</a:t>
            </a:r>
          </a:p>
        </p:txBody>
      </p:sp>
    </p:spTree>
    <p:extLst>
      <p:ext uri="{BB962C8B-B14F-4D97-AF65-F5344CB8AC3E}">
        <p14:creationId xmlns:p14="http://schemas.microsoft.com/office/powerpoint/2010/main" val="136219700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784B-5AA4-A3A6-B4F0-4C61A544F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766C6DCB-F72A-93AB-757F-18C4D810F99D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016AA6-12E6-E8C4-A484-595011925E09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694F6FD-756F-1A46-8E71-C584B89F06EE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3D61D1E-4A38-F66A-4A43-D45AF3675AD5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AB9ACDA-1AC8-AED0-17E4-21FAD8CE1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4" name="Immagine 3" descr="Immagine che contiene testo, Carattere, calligrafia, diagramma&#10;&#10;Il contenuto generato dall'IA potrebbe non essere corretto.">
            <a:extLst>
              <a:ext uri="{FF2B5EF4-FFF2-40B4-BE49-F238E27FC236}">
                <a16:creationId xmlns:a16="http://schemas.microsoft.com/office/drawing/2014/main" id="{0FFA731F-4035-8430-18C6-360635DEE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98" y="3007158"/>
            <a:ext cx="4169774" cy="3037658"/>
          </a:xfrm>
          <a:prstGeom prst="rect">
            <a:avLst/>
          </a:prstGeom>
        </p:spPr>
      </p:pic>
      <p:pic>
        <p:nvPicPr>
          <p:cNvPr id="5" name="Immagine 4" descr="Immagine che contiene schizzo, disegn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5AB8DD75-7546-9221-23B9-CA608E945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171" y="2733520"/>
            <a:ext cx="5122882" cy="246773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DF63A22-8F99-9C80-FDE6-8C28B47FBD7D}"/>
              </a:ext>
            </a:extLst>
          </p:cNvPr>
          <p:cNvSpPr txBox="1"/>
          <p:nvPr/>
        </p:nvSpPr>
        <p:spPr>
          <a:xfrm>
            <a:off x="681498" y="2170137"/>
            <a:ext cx="10279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Non-linear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system’s</a:t>
            </a:r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equations</a:t>
            </a:r>
            <a:endParaRPr lang="it-IT" sz="3200" dirty="0">
              <a:latin typeface="Rockwell Nova Cond" panose="02060506020205020403" pitchFamily="18" charset="0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9822273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A37A6-71DB-B7E4-C89F-924C95F9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517EAAC2-CF83-3B9B-048E-F7FDA5745165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7664C8-590D-FB8E-884B-D97019D1DC16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6B1A2F2-34F8-45A9-E50A-30047247420C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9DF7A81-5FA9-D83B-E43B-5A3FBCA23DA6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7E6FCF8-0271-5E48-84B1-D43176378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F6B742-2564-6513-6DFF-C5D866D5A751}"/>
              </a:ext>
            </a:extLst>
          </p:cNvPr>
          <p:cNvSpPr txBox="1"/>
          <p:nvPr/>
        </p:nvSpPr>
        <p:spPr>
          <a:xfrm>
            <a:off x="575187" y="2507226"/>
            <a:ext cx="102796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want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apply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LMPC to control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Let’s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linearize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non-linear system in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every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sampled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point of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nominal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trajectory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Assumptions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:</a:t>
            </a:r>
          </a:p>
        </p:txBody>
      </p:sp>
      <p:pic>
        <p:nvPicPr>
          <p:cNvPr id="11" name="Immagine 10" descr="Immagine che contiene Carattere, calligrafia, testo, tipografia&#10;&#10;Il contenuto generato dall'IA potrebbe non essere corretto.">
            <a:extLst>
              <a:ext uri="{FF2B5EF4-FFF2-40B4-BE49-F238E27FC236}">
                <a16:creationId xmlns:a16="http://schemas.microsoft.com/office/drawing/2014/main" id="{0626B2AB-491A-BC2D-3365-F06176A05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19" y="4575159"/>
            <a:ext cx="3291159" cy="1251931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  <p:pic>
        <p:nvPicPr>
          <p:cNvPr id="13" name="Immagine 12" descr="Immagine che contiene Carattere, linea, diagramma, tipografia&#10;&#10;Il contenuto generato dall'IA potrebbe non essere corretto.">
            <a:extLst>
              <a:ext uri="{FF2B5EF4-FFF2-40B4-BE49-F238E27FC236}">
                <a16:creationId xmlns:a16="http://schemas.microsoft.com/office/drawing/2014/main" id="{8816D74B-04AA-C282-411B-BAE1C0945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697" y="4575159"/>
            <a:ext cx="3477572" cy="1251926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9277863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AD029-2701-746D-782C-35134B4C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1D338529-EA1A-BAE7-1BC9-EA34EE5B463D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5D90A8E-7904-83E2-4606-5E4810E657BF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A52899AF-2917-3587-6911-7FE2B3CC1725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4F28F2C-C1B6-ED46-7AEE-6E7F7816D4D2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D11789B-8E09-E4A3-4AB8-B68FC37B8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1F8A990-2E2D-404B-1BA8-5047AA18453F}"/>
              </a:ext>
            </a:extLst>
          </p:cNvPr>
          <p:cNvSpPr txBox="1"/>
          <p:nvPr/>
        </p:nvSpPr>
        <p:spPr>
          <a:xfrm>
            <a:off x="681498" y="2170137"/>
            <a:ext cx="10279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Linear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system’s</a:t>
            </a:r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equations</a:t>
            </a:r>
            <a:endParaRPr lang="it-IT" sz="3200" dirty="0">
              <a:latin typeface="Rockwell Nova Cond" panose="02060506020205020403" pitchFamily="18" charset="0"/>
              <a:cs typeface="Miriam" panose="020B0502050101010101" pitchFamily="34" charset="-79"/>
            </a:endParaRPr>
          </a:p>
        </p:txBody>
      </p:sp>
      <p:pic>
        <p:nvPicPr>
          <p:cNvPr id="10" name="Immagine 9" descr="Immagine che contiene Carattere, testo, linea, tipografia&#10;&#10;Il contenuto generato dall'IA potrebbe non essere corretto.">
            <a:extLst>
              <a:ext uri="{FF2B5EF4-FFF2-40B4-BE49-F238E27FC236}">
                <a16:creationId xmlns:a16="http://schemas.microsoft.com/office/drawing/2014/main" id="{023F286C-9AF2-DD2A-9EF1-0C3FF9243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98" y="2875936"/>
            <a:ext cx="4552950" cy="571500"/>
          </a:xfrm>
          <a:prstGeom prst="rect">
            <a:avLst/>
          </a:prstGeom>
        </p:spPr>
      </p:pic>
      <p:pic>
        <p:nvPicPr>
          <p:cNvPr id="12" name="Immagine 11" descr="Immagine che contiene Carattere, linea, testo, tipografia&#10;&#10;Il contenuto generato dall'IA potrebbe non essere corretto.">
            <a:extLst>
              <a:ext uri="{FF2B5EF4-FFF2-40B4-BE49-F238E27FC236}">
                <a16:creationId xmlns:a16="http://schemas.microsoft.com/office/drawing/2014/main" id="{DAF968D1-97E9-5888-74E4-6B3A6D13C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98" y="4221991"/>
            <a:ext cx="7686675" cy="1800225"/>
          </a:xfrm>
          <a:prstGeom prst="rect">
            <a:avLst/>
          </a:prstGeom>
        </p:spPr>
      </p:pic>
      <p:pic>
        <p:nvPicPr>
          <p:cNvPr id="14" name="Immagine 13" descr="Immagine che contiene testo, Carattere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77C56990-CA2F-9FBD-EDDC-3D26ECBA3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138" y="2296678"/>
            <a:ext cx="37338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47149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F4FE-1F97-A683-2C8C-DD219F7E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6E9333F5-F34D-7EF3-953F-C943B0518FDC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9068CFD-57EF-5F66-C65C-1FD444E56BC8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68FF0EE4-DBBC-C64E-1C29-FD3BF9A713A2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E36705-7C3C-1781-EDDF-E472B7A0C5AF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25FBA6C-8C1F-08AA-C096-3149083DE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6D450C-1348-4520-D027-AEB356DBDB27}"/>
              </a:ext>
            </a:extLst>
          </p:cNvPr>
          <p:cNvSpPr txBox="1"/>
          <p:nvPr/>
        </p:nvSpPr>
        <p:spPr>
          <a:xfrm>
            <a:off x="559971" y="2838697"/>
            <a:ext cx="48179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Definition of the system outputs for an efficient formulation of system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Three circle center points along the vehicle center line such that the vehicle shape is covered appropriately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10" name="Immagine 9" descr="Immagine che contiene schizzo, diagramma, disegno, linea&#10;&#10;Il contenuto generato dall'IA potrebbe non essere corretto.">
            <a:extLst>
              <a:ext uri="{FF2B5EF4-FFF2-40B4-BE49-F238E27FC236}">
                <a16:creationId xmlns:a16="http://schemas.microsoft.com/office/drawing/2014/main" id="{4443D8F5-7A9B-2B88-E416-2E0036ABE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15691"/>
            <a:ext cx="5043053" cy="274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54944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5132-75FD-FA90-2915-08564D162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C822E24E-3672-48C0-1886-C0637FB4D835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56FC26A-D1EF-F060-45D3-1E8953335324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1ADBEB7F-BB2D-A968-DC0A-23E3EF6EDDA0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1E87004-08C6-810C-C31F-8AABA8711159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F492199-1FEA-84E5-75D2-D88F36EB6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10" name="Immagine 9" descr="Immagine che contiene schizzo, diagramma, disegno, linea&#10;&#10;Il contenuto generato dall'IA potrebbe non essere corretto.">
            <a:extLst>
              <a:ext uri="{FF2B5EF4-FFF2-40B4-BE49-F238E27FC236}">
                <a16:creationId xmlns:a16="http://schemas.microsoft.com/office/drawing/2014/main" id="{A6D62F65-3DB1-54FF-4D49-9C86B0D08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15691"/>
            <a:ext cx="5043053" cy="274907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A7F337B-8B3B-8733-7342-6A1066E3E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76" y="3043865"/>
            <a:ext cx="1800225" cy="466725"/>
          </a:xfrm>
          <a:prstGeom prst="rect">
            <a:avLst/>
          </a:prstGeom>
        </p:spPr>
      </p:pic>
      <p:pic>
        <p:nvPicPr>
          <p:cNvPr id="11" name="Immagine 10" descr="Immagine che contiene Carattere, diagramma, numero, tipografia&#10;&#10;Il contenuto generato dall'IA potrebbe non essere corretto.">
            <a:extLst>
              <a:ext uri="{FF2B5EF4-FFF2-40B4-BE49-F238E27FC236}">
                <a16:creationId xmlns:a16="http://schemas.microsoft.com/office/drawing/2014/main" id="{BBC9B323-331C-0C67-D5DE-46E1935AF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3577093"/>
            <a:ext cx="3467100" cy="1552575"/>
          </a:xfrm>
          <a:prstGeom prst="rect">
            <a:avLst/>
          </a:prstGeom>
        </p:spPr>
      </p:pic>
      <p:pic>
        <p:nvPicPr>
          <p:cNvPr id="13" name="Immagine 12" descr="Immagine che contiene Carattere, testo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E03C4DB0-D65D-A6A6-206D-46A0E9215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851" y="3596143"/>
            <a:ext cx="1809750" cy="1533525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94845C4-A9D2-5F5E-3D60-3E36B3884800}"/>
              </a:ext>
            </a:extLst>
          </p:cNvPr>
          <p:cNvSpPr txBox="1"/>
          <p:nvPr/>
        </p:nvSpPr>
        <p:spPr>
          <a:xfrm>
            <a:off x="681498" y="2170137"/>
            <a:ext cx="10279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Linear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system’s</a:t>
            </a:r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 output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equations</a:t>
            </a:r>
            <a:endParaRPr lang="it-IT" sz="3200" dirty="0">
              <a:latin typeface="Rockwell Nova Cond" panose="02060506020205020403" pitchFamily="18" charset="0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89253129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7A732-914B-14A3-4839-17227C107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3959D0AB-2764-D8E8-E542-8395304C710B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918F7BA-8B79-351B-7F1F-F3FD1048E10D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187936C5-26AC-A320-3FA7-4F6ED45B99AC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625B0C0-AC20-FB83-96DF-6E3D366692CE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A65B257-E8E3-7CB8-0D78-7C80EF3DF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10" name="Immagine 9" descr="Immagine che contiene schizzo, diagramma, disegno, linea&#10;&#10;Il contenuto generato dall'IA potrebbe non essere corretto.">
            <a:extLst>
              <a:ext uri="{FF2B5EF4-FFF2-40B4-BE49-F238E27FC236}">
                <a16:creationId xmlns:a16="http://schemas.microsoft.com/office/drawing/2014/main" id="{AC1D39A8-C49D-17C7-49E9-7243A858CB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15691"/>
            <a:ext cx="5043053" cy="274907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3754585-7EFC-415C-C73E-0D2955E751D9}"/>
              </a:ext>
            </a:extLst>
          </p:cNvPr>
          <p:cNvSpPr txBox="1"/>
          <p:nvPr/>
        </p:nvSpPr>
        <p:spPr>
          <a:xfrm>
            <a:off x="681498" y="2170137"/>
            <a:ext cx="10279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Discretization</a:t>
            </a:r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 of the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system’s</a:t>
            </a:r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equations</a:t>
            </a:r>
            <a:endParaRPr lang="it-IT" sz="3200" dirty="0">
              <a:latin typeface="Rockwell Nova Cond" panose="02060506020205020403" pitchFamily="18" charset="0"/>
              <a:cs typeface="Miriam" panose="020B0502050101010101" pitchFamily="34" charset="-79"/>
            </a:endParaRPr>
          </a:p>
        </p:txBody>
      </p:sp>
      <p:pic>
        <p:nvPicPr>
          <p:cNvPr id="4" name="Immagine 3" descr="Immagine che contiene Carattere, line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29781890-1290-E1EF-21B8-90FC62040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98" y="2960751"/>
            <a:ext cx="3952875" cy="647700"/>
          </a:xfrm>
          <a:prstGeom prst="rect">
            <a:avLst/>
          </a:prstGeom>
        </p:spPr>
      </p:pic>
      <p:pic>
        <p:nvPicPr>
          <p:cNvPr id="12" name="Immagine 11" descr="Immagine che contiene Carattere, bianco, tipografia, design&#10;&#10;Il contenuto generato dall'IA potrebbe non essere corretto.">
            <a:extLst>
              <a:ext uri="{FF2B5EF4-FFF2-40B4-BE49-F238E27FC236}">
                <a16:creationId xmlns:a16="http://schemas.microsoft.com/office/drawing/2014/main" id="{FBE78A45-6892-4BFA-7824-11E57433F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98" y="3608451"/>
            <a:ext cx="1838325" cy="590550"/>
          </a:xfrm>
          <a:prstGeom prst="rect">
            <a:avLst/>
          </a:prstGeom>
        </p:spPr>
      </p:pic>
      <p:pic>
        <p:nvPicPr>
          <p:cNvPr id="16" name="Immagine 15" descr="Immagine che contiene Carattere, tipografi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60CF9B93-9C03-CC2B-A137-D87DFFD01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98" y="4199001"/>
            <a:ext cx="2914650" cy="800100"/>
          </a:xfrm>
          <a:prstGeom prst="rect">
            <a:avLst/>
          </a:prstGeom>
        </p:spPr>
      </p:pic>
      <p:pic>
        <p:nvPicPr>
          <p:cNvPr id="18" name="Immagine 17" descr="Immagine che contiene Carattere, tipografia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FB1D9E64-ED46-1713-B914-143240333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98" y="5068885"/>
            <a:ext cx="29813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53881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1E5C-3A36-A703-0BDB-395484A85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49967884-D271-9FF3-A962-79100F632626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32EDF0-1498-9444-7F43-A94DE9C53D60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2. VEHICLE PREDICTION MODEL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38BBA4E-28C8-E20A-8D5A-E84F8DCC59E3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B2EDAAF-2AA1-407A-F2A1-996F5BEB2F71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3132969-E88A-66F7-846D-7F3DD56AE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10" name="Immagine 9" descr="Immagine che contiene schizzo, diagramma, disegno, linea&#10;&#10;Il contenuto generato dall'IA potrebbe non essere corretto.">
            <a:extLst>
              <a:ext uri="{FF2B5EF4-FFF2-40B4-BE49-F238E27FC236}">
                <a16:creationId xmlns:a16="http://schemas.microsoft.com/office/drawing/2014/main" id="{13E47634-0171-9608-86BA-0E1F09863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15691"/>
            <a:ext cx="5043053" cy="274907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486F6CE-B9F6-B099-C333-0EC4229A9551}"/>
              </a:ext>
            </a:extLst>
          </p:cNvPr>
          <p:cNvSpPr txBox="1"/>
          <p:nvPr/>
        </p:nvSpPr>
        <p:spPr>
          <a:xfrm>
            <a:off x="681498" y="2170137"/>
            <a:ext cx="10279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Discretization</a:t>
            </a:r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 of the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system’s</a:t>
            </a:r>
            <a:r>
              <a:rPr lang="it-IT" sz="3200" dirty="0">
                <a:latin typeface="Rockwell Nova Cond" panose="02060506020205020403" pitchFamily="18" charset="0"/>
                <a:cs typeface="Miriam" panose="020B0502050101010101" pitchFamily="34" charset="-79"/>
              </a:rPr>
              <a:t> </a:t>
            </a:r>
            <a:r>
              <a:rPr lang="it-IT" sz="3200" dirty="0" err="1">
                <a:latin typeface="Rockwell Nova Cond" panose="02060506020205020403" pitchFamily="18" charset="0"/>
                <a:cs typeface="Miriam" panose="020B0502050101010101" pitchFamily="34" charset="-79"/>
              </a:rPr>
              <a:t>equations</a:t>
            </a:r>
            <a:endParaRPr lang="it-IT" sz="3200" dirty="0">
              <a:latin typeface="Rockwell Nova Cond" panose="02060506020205020403" pitchFamily="18" charset="0"/>
              <a:cs typeface="Miriam" panose="020B0502050101010101" pitchFamily="34" charset="-79"/>
            </a:endParaRPr>
          </a:p>
        </p:txBody>
      </p:sp>
      <p:pic>
        <p:nvPicPr>
          <p:cNvPr id="18" name="Immagine 17" descr="Immagine che contiene Carattere, tipografia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C43A4EF1-24D3-A3E8-A2D8-3E59B85F8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98" y="2952750"/>
            <a:ext cx="2981325" cy="952500"/>
          </a:xfrm>
          <a:prstGeom prst="rect">
            <a:avLst/>
          </a:prstGeom>
        </p:spPr>
      </p:pic>
      <p:pic>
        <p:nvPicPr>
          <p:cNvPr id="5" name="Immagine 4" descr="Immagine che contiene Carattere, linea, testo, calligrafia&#10;&#10;Il contenuto generato dall'IA potrebbe non essere corretto.">
            <a:extLst>
              <a:ext uri="{FF2B5EF4-FFF2-40B4-BE49-F238E27FC236}">
                <a16:creationId xmlns:a16="http://schemas.microsoft.com/office/drawing/2014/main" id="{31A83AFA-2FF1-ADFB-0BAE-00ABEF588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98" y="4324559"/>
            <a:ext cx="4363000" cy="1142401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50110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DF9C-6AD0-116E-5546-E05355E0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92E3749C-3AD3-6D35-E15B-784644384A3C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F51CD55-20FE-BBFF-A4AF-D9204C723E24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3. SYSTEM CONSTRAINTS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167BFCAF-84BE-203D-6B35-3A10B20D5E7F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D562FD3-76C3-27B3-AF65-62BACA0BF290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1456260-2C2A-576D-B448-32D4F19E6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E705F0E-A15A-652B-3E73-298B96112200}"/>
              </a:ext>
            </a:extLst>
          </p:cNvPr>
          <p:cNvSpPr txBox="1"/>
          <p:nvPr/>
        </p:nvSpPr>
        <p:spPr>
          <a:xfrm>
            <a:off x="575187" y="2507226"/>
            <a:ext cx="102796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The generated trajectory is not isolated, when dealing with autonomous driving we need to take into account different objects: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Static obstacles: e.g. road 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Dynamic obstacles: e.g. other traffic </a:t>
            </a:r>
            <a:r>
              <a:rPr lang="en-US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partecipants</a:t>
            </a:r>
            <a:endParaRPr lang="en-US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A7B8B3-5C9A-6E92-48E8-2E2E15CEF42C}"/>
              </a:ext>
            </a:extLst>
          </p:cNvPr>
          <p:cNvSpPr txBox="1"/>
          <p:nvPr/>
        </p:nvSpPr>
        <p:spPr>
          <a:xfrm>
            <a:off x="4667396" y="4614634"/>
            <a:ext cx="3800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CONSTRAINTS?</a:t>
            </a:r>
          </a:p>
        </p:txBody>
      </p:sp>
    </p:spTree>
    <p:extLst>
      <p:ext uri="{BB962C8B-B14F-4D97-AF65-F5344CB8AC3E}">
        <p14:creationId xmlns:p14="http://schemas.microsoft.com/office/powerpoint/2010/main" val="349420672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5218-50F9-8615-F48D-EBC6D4DB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609C365F-92AE-15C5-1B67-0C6B51A4D63D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9E72FF7-B760-062A-7404-DC2A5B05AE91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3. SYSTEM CONSTRAINTS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3B9DDC24-5C31-924D-CD6A-2AE6C501E07E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A5D3FF7-C4C1-0AF5-0F9B-2F2B6BC846DE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85B7B5E-7137-EA87-D83E-4B4DA54BF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EDAE00E-3261-1602-6ACD-996CC10049D5}"/>
              </a:ext>
            </a:extLst>
          </p:cNvPr>
          <p:cNvSpPr txBox="1"/>
          <p:nvPr/>
        </p:nvSpPr>
        <p:spPr>
          <a:xfrm>
            <a:off x="559971" y="2087189"/>
            <a:ext cx="3185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CONSTRAINTS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2ED6BA0-1BBB-5CDA-72B2-65CCD86C7030}"/>
              </a:ext>
            </a:extLst>
          </p:cNvPr>
          <p:cNvSpPr txBox="1"/>
          <p:nvPr/>
        </p:nvSpPr>
        <p:spPr>
          <a:xfrm>
            <a:off x="559971" y="2838697"/>
            <a:ext cx="4817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Circles are moved from both sides of the vehicle indicating their maximum (from left) and minimum (from right)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In this case the vehicle is at the center of the lane and the obstacles are just the lines</a:t>
            </a: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10" name="Immagine 9" descr="Immagine che contiene schizzo, disegno, Line art, diagramma&#10;&#10;Il contenuto generato dall'IA potrebbe non essere corretto.">
            <a:extLst>
              <a:ext uri="{FF2B5EF4-FFF2-40B4-BE49-F238E27FC236}">
                <a16:creationId xmlns:a16="http://schemas.microsoft.com/office/drawing/2014/main" id="{6852E8ED-A57B-0E78-5DBB-5FA903D2E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61"/>
          <a:stretch>
            <a:fillRect/>
          </a:stretch>
        </p:blipFill>
        <p:spPr>
          <a:xfrm>
            <a:off x="6264207" y="2585773"/>
            <a:ext cx="5210038" cy="283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9285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76D7-9223-689A-8C1F-2A1A8643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43EDE23B-8C53-D2FC-C9DD-A87F74A74C77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9CE309B-AE57-8543-7513-5BAC0EADAC6E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3. SYSTEM CONSTRAINTS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D09BAAC-DFE3-8360-650D-F4E54DB34F1D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F60EBB6-4A5D-FB28-9004-CD58F39898A8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0FAA6EA-7655-AFAB-736B-20095F92E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5F85138-BE85-34BE-DB45-C373C39FB43D}"/>
              </a:ext>
            </a:extLst>
          </p:cNvPr>
          <p:cNvSpPr txBox="1"/>
          <p:nvPr/>
        </p:nvSpPr>
        <p:spPr>
          <a:xfrm>
            <a:off x="559971" y="2087189"/>
            <a:ext cx="3185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CONSTRAINTS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835E174-69D1-BAD1-7FF8-294E4F95F32A}"/>
              </a:ext>
            </a:extLst>
          </p:cNvPr>
          <p:cNvSpPr txBox="1"/>
          <p:nvPr/>
        </p:nvSpPr>
        <p:spPr>
          <a:xfrm>
            <a:off x="559971" y="2838697"/>
            <a:ext cx="4817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Circles are moved from both sides of the vehicle indicating their maximum (from left) and minimum (from right)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iriam" panose="020B0502050101010101" pitchFamily="34" charset="-79"/>
                <a:cs typeface="Miriam" panose="020B0502050101010101" pitchFamily="34" charset="-79"/>
              </a:rPr>
              <a:t>In this case the vehicle gets closer to the right lane to avoid the other vehicle</a:t>
            </a:r>
            <a:endParaRPr lang="it-IT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10" name="Immagine 9" descr="Immagine che contiene schizzo, disegno, Line art, diagramma&#10;&#10;Il contenuto generato dall'IA potrebbe non essere corretto.">
            <a:extLst>
              <a:ext uri="{FF2B5EF4-FFF2-40B4-BE49-F238E27FC236}">
                <a16:creationId xmlns:a16="http://schemas.microsoft.com/office/drawing/2014/main" id="{367F97C1-2CA6-47CC-DD5D-80196B929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81" b="34078"/>
          <a:stretch>
            <a:fillRect/>
          </a:stretch>
        </p:blipFill>
        <p:spPr>
          <a:xfrm>
            <a:off x="6814032" y="1842844"/>
            <a:ext cx="4182515" cy="441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23974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89A04-6B59-FDB3-1542-3EFA1675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7811EB75-71CE-70D2-32B9-7A47389404B3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B66626-A3AE-AA98-EE07-0BAF5D7E9E03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3. SYSTEM CONSTRAINTS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C41F6D0D-D541-E628-D595-B60BE0ED1120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B7FEEFF-9056-B976-EE28-666B9D9D28A6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CEEEA58-06D8-6DD2-A2B5-C772E872E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8B2EF8A-D55D-C684-9D7D-9C9D59412203}"/>
              </a:ext>
            </a:extLst>
          </p:cNvPr>
          <p:cNvSpPr txBox="1"/>
          <p:nvPr/>
        </p:nvSpPr>
        <p:spPr>
          <a:xfrm>
            <a:off x="559971" y="2087189"/>
            <a:ext cx="3185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CONSTRAINTS</a:t>
            </a:r>
          </a:p>
        </p:txBody>
      </p:sp>
      <p:pic>
        <p:nvPicPr>
          <p:cNvPr id="10" name="Immagine 9" descr="Immagine che contiene schizzo, disegno, Line art, diagramma&#10;&#10;Il contenuto generato dall'IA potrebbe non essere corretto.">
            <a:extLst>
              <a:ext uri="{FF2B5EF4-FFF2-40B4-BE49-F238E27FC236}">
                <a16:creationId xmlns:a16="http://schemas.microsoft.com/office/drawing/2014/main" id="{5CA6C481-E02E-3033-0877-F6AB101E8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81" b="34078"/>
          <a:stretch>
            <a:fillRect/>
          </a:stretch>
        </p:blipFill>
        <p:spPr>
          <a:xfrm>
            <a:off x="6814032" y="1842844"/>
            <a:ext cx="4182515" cy="441621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5F294FF-D251-088B-7459-E21F8BC39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771" y="2985879"/>
            <a:ext cx="5486400" cy="44767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1965266-5EC1-3D16-4B18-D22B00CDF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02" y="3706521"/>
            <a:ext cx="2171700" cy="33337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0629032F-42CC-7379-BE4D-CC6C1E4D75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14" y="4393854"/>
            <a:ext cx="5467350" cy="381000"/>
          </a:xfrm>
          <a:prstGeom prst="rect">
            <a:avLst/>
          </a:prstGeom>
        </p:spPr>
      </p:pic>
      <p:pic>
        <p:nvPicPr>
          <p:cNvPr id="16" name="Immagine 15" descr="Immagine che contiene Carattere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A0B3E6F4-CD98-1A7C-1618-963ABD5077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14" y="4977492"/>
            <a:ext cx="3219450" cy="67627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264CC8D-CEC7-F0C4-46F7-43618E31788E}"/>
              </a:ext>
            </a:extLst>
          </p:cNvPr>
          <p:cNvSpPr txBox="1"/>
          <p:nvPr/>
        </p:nvSpPr>
        <p:spPr>
          <a:xfrm>
            <a:off x="3052916" y="3604141"/>
            <a:ext cx="274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Miriam" panose="020B0502050101010101" pitchFamily="34" charset="-79"/>
                <a:cs typeface="Miriam" panose="020B0502050101010101" pitchFamily="34" charset="-79"/>
              </a:rPr>
              <a:t>Input </a:t>
            </a:r>
            <a:r>
              <a:rPr lang="it-IT" sz="1600" dirty="0" err="1">
                <a:latin typeface="Miriam" panose="020B0502050101010101" pitchFamily="34" charset="-79"/>
                <a:cs typeface="Miriam" panose="020B0502050101010101" pitchFamily="34" charset="-79"/>
              </a:rPr>
              <a:t>constraints</a:t>
            </a:r>
            <a:r>
              <a:rPr lang="it-IT" sz="1600" dirty="0">
                <a:latin typeface="Miriam" panose="020B0502050101010101" pitchFamily="34" charset="-79"/>
                <a:cs typeface="Miriam" panose="020B0502050101010101" pitchFamily="34" charset="-79"/>
              </a:rPr>
              <a:t> -&gt; derivative of curvature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5EC424D-9F53-2ACC-4F50-144825E26D80}"/>
              </a:ext>
            </a:extLst>
          </p:cNvPr>
          <p:cNvSpPr txBox="1"/>
          <p:nvPr/>
        </p:nvSpPr>
        <p:spPr>
          <a:xfrm>
            <a:off x="3878664" y="4960845"/>
            <a:ext cx="274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Miriam" panose="020B0502050101010101" pitchFamily="34" charset="-79"/>
                <a:cs typeface="Miriam" panose="020B0502050101010101" pitchFamily="34" charset="-79"/>
              </a:rPr>
              <a:t>Steering </a:t>
            </a:r>
            <a:r>
              <a:rPr lang="it-IT" sz="1600" dirty="0" err="1">
                <a:latin typeface="Miriam" panose="020B0502050101010101" pitchFamily="34" charset="-79"/>
                <a:cs typeface="Miriam" panose="020B0502050101010101" pitchFamily="34" charset="-79"/>
              </a:rPr>
              <a:t>constraints</a:t>
            </a:r>
            <a:r>
              <a:rPr lang="it-IT" sz="1600" dirty="0">
                <a:latin typeface="Miriam" panose="020B0502050101010101" pitchFamily="34" charset="-79"/>
                <a:cs typeface="Miriam" panose="020B0502050101010101" pitchFamily="34" charset="-79"/>
              </a:rPr>
              <a:t> from the </a:t>
            </a:r>
            <a:r>
              <a:rPr lang="it-IT" sz="1600" i="1" dirty="0" err="1">
                <a:latin typeface="Miriam" panose="020B0502050101010101" pitchFamily="34" charset="-79"/>
                <a:cs typeface="Miriam" panose="020B0502050101010101" pitchFamily="34" charset="-79"/>
              </a:rPr>
              <a:t>Kamm’s</a:t>
            </a:r>
            <a:r>
              <a:rPr lang="it-IT" sz="1600" i="1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1600" i="1" dirty="0" err="1">
                <a:latin typeface="Miriam" panose="020B0502050101010101" pitchFamily="34" charset="-79"/>
                <a:cs typeface="Miriam" panose="020B0502050101010101" pitchFamily="34" charset="-79"/>
              </a:rPr>
              <a:t>circle</a:t>
            </a:r>
            <a:endParaRPr lang="it-IT" sz="16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4096583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BEA9-A359-33A9-DDE6-1A4C3CC0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1DD04B9F-471F-9FC5-6D1E-4A921A4A935A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13BA4D4-9568-61D8-462F-AC9F95747820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4. COST FUNCTION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6CD0663-FE7B-203B-80D5-405C9110439A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4619DE2-AC4C-09D9-692E-01AA4938E596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B2E6C56-A466-2472-48D1-D90E2B82C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7D859BB-9C0D-7532-882E-0372AD6C0D5B}"/>
              </a:ext>
            </a:extLst>
          </p:cNvPr>
          <p:cNvSpPr txBox="1"/>
          <p:nvPr/>
        </p:nvSpPr>
        <p:spPr>
          <a:xfrm>
            <a:off x="575187" y="2507226"/>
            <a:ext cx="102796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objective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formulated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minimization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a cost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function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, the </a:t>
            </a:r>
            <a:r>
              <a:rPr lang="it-IT" sz="2400" i="1" dirty="0" err="1">
                <a:latin typeface="Miriam" panose="020B0502050101010101" pitchFamily="34" charset="-79"/>
                <a:cs typeface="Miriam" panose="020B0502050101010101" pitchFamily="34" charset="-79"/>
              </a:rPr>
              <a:t>quadratic</a:t>
            </a:r>
            <a:r>
              <a:rPr lang="it-IT" sz="2400" i="1" dirty="0">
                <a:latin typeface="Miriam" panose="020B0502050101010101" pitchFamily="34" charset="-79"/>
                <a:cs typeface="Miriam" panose="020B0502050101010101" pitchFamily="34" charset="-79"/>
              </a:rPr>
              <a:t> running cost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want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stay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sollow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(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least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)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trajectory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difference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between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vehicle’s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curvature and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trajectory’s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curvature must be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lowest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possible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preferrable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not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steering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often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reaching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limits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preferrable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not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do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rapid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changes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in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direction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95E20F8-61BC-C564-9DBE-C88A1858F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450" y="5515884"/>
            <a:ext cx="6365100" cy="482205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299689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A18D1-7667-7CFC-BA1D-FCB0DFEE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2411E3AA-2D59-BFC0-3445-AB3E9B809103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CD20590-506C-D2D6-8691-2E69ACADC0A5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4. COST FUNCTION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381C538-81D6-7A06-D2AA-D9BB010624D4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CF710B-F522-52C9-A5FE-69EAAE0A950E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03457D6-169F-11F8-24D1-A079D3065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6995889-0E07-4C05-62BE-DA9DA7E87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39" y="2021840"/>
            <a:ext cx="6513149" cy="517112"/>
          </a:xfrm>
          <a:prstGeom prst="rect">
            <a:avLst/>
          </a:prstGeom>
        </p:spPr>
      </p:pic>
      <p:pic>
        <p:nvPicPr>
          <p:cNvPr id="6" name="Immagine 5" descr="Immagine che contiene Carattere, tipografia, testo&#10;&#10;Il contenuto generato dall'IA potrebbe non essere corretto.">
            <a:extLst>
              <a:ext uri="{FF2B5EF4-FFF2-40B4-BE49-F238E27FC236}">
                <a16:creationId xmlns:a16="http://schemas.microsoft.com/office/drawing/2014/main" id="{C073BB49-F5B6-F67E-021E-93879D2B9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39" y="2644753"/>
            <a:ext cx="6353089" cy="652546"/>
          </a:xfrm>
          <a:prstGeom prst="rect">
            <a:avLst/>
          </a:prstGeom>
        </p:spPr>
      </p:pic>
      <p:pic>
        <p:nvPicPr>
          <p:cNvPr id="12" name="Immagine 11" descr="Immagine che contiene testo, Carattere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2A109990-A4BC-55AE-3CC6-2038DFF8F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64" y="3646230"/>
            <a:ext cx="7139716" cy="2482770"/>
          </a:xfrm>
          <a:prstGeom prst="rect">
            <a:avLst/>
          </a:prstGeom>
        </p:spPr>
      </p:pic>
      <p:pic>
        <p:nvPicPr>
          <p:cNvPr id="14" name="Immagine 13" descr="Immagine che contiene Carattere, tipografia, calligrafia, testo&#10;&#10;Il contenuto generato dall'IA potrebbe non essere corretto.">
            <a:extLst>
              <a:ext uri="{FF2B5EF4-FFF2-40B4-BE49-F238E27FC236}">
                <a16:creationId xmlns:a16="http://schemas.microsoft.com/office/drawing/2014/main" id="{581E9589-937A-EEF4-DEE0-9CFF7F8C72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231" y="4380261"/>
            <a:ext cx="2886075" cy="714375"/>
          </a:xfrm>
          <a:prstGeom prst="rect">
            <a:avLst/>
          </a:prstGeom>
        </p:spPr>
      </p:pic>
      <p:pic>
        <p:nvPicPr>
          <p:cNvPr id="16" name="Immagine 15" descr="Immagine che contiene Carattere, calligrafia, tipografia, bianco&#10;&#10;Il contenuto generato dall'IA potrebbe non essere corretto.">
            <a:extLst>
              <a:ext uri="{FF2B5EF4-FFF2-40B4-BE49-F238E27FC236}">
                <a16:creationId xmlns:a16="http://schemas.microsoft.com/office/drawing/2014/main" id="{A131F4A7-3BC5-AD65-9A7F-DA0F014938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094" y="2466072"/>
            <a:ext cx="3829050" cy="647700"/>
          </a:xfrm>
          <a:prstGeom prst="rect">
            <a:avLst/>
          </a:prstGeom>
          <a:ln w="28575"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56111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DCC16-5213-6C82-9FB3-0EAF0DE3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D3D9CE11-E683-D780-8B2F-A7434A5F4E09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372DDA-2DC2-F040-8FEA-CFCE7CB2E606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B78CBF3-80DD-441A-9BEA-93B149D5A81C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5E3A41E-CB2D-6CBF-1E80-5002BE12F31A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91F71C9-6F80-5B4F-997B-E2696C05D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A0C7776-FF95-BD79-CD3C-C40B9667C42A}"/>
              </a:ext>
            </a:extLst>
          </p:cNvPr>
          <p:cNvSpPr txBox="1"/>
          <p:nvPr/>
        </p:nvSpPr>
        <p:spPr>
          <a:xfrm>
            <a:off x="575187" y="2507226"/>
            <a:ext cx="102796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need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formulation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that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able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describe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all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time instants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if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horizon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solve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using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quadratic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optimizer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authors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decided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use a dense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formulation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containing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all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information from k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k+N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I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decided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also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change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dimension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vectors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and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matrices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include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initial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state and output in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optimization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73910151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BACD-EBA8-3431-DE02-B81C159C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FBB6AB89-CFCB-D044-315B-B92E72987386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1CC16E8-DDAD-129F-F760-BE3B011675D2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739C848-6031-6C66-8E9F-2600479E39E5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B9B34FC-BDA2-7AF7-C36D-00BD56D6C2B4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FEAE9B1-D3CE-59AF-5B31-7F6E7492C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4" name="Immagine 3" descr="Immagine che contiene testo, Carattere, calligrafia, linea&#10;&#10;Il contenuto generato dall'IA potrebbe non essere corretto.">
            <a:extLst>
              <a:ext uri="{FF2B5EF4-FFF2-40B4-BE49-F238E27FC236}">
                <a16:creationId xmlns:a16="http://schemas.microsoft.com/office/drawing/2014/main" id="{1B230E8D-33C7-FAE5-8BD9-CC4E3083D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465" y="2087189"/>
            <a:ext cx="7176445" cy="2134446"/>
          </a:xfrm>
          <a:prstGeom prst="rect">
            <a:avLst/>
          </a:prstGeom>
        </p:spPr>
      </p:pic>
      <p:pic>
        <p:nvPicPr>
          <p:cNvPr id="6" name="Immagine 5" descr="Immagine che contiene testo, Carattere, calligrafia, diagramma&#10;&#10;Il contenuto generato dall'IA potrebbe non essere corretto.">
            <a:extLst>
              <a:ext uri="{FF2B5EF4-FFF2-40B4-BE49-F238E27FC236}">
                <a16:creationId xmlns:a16="http://schemas.microsoft.com/office/drawing/2014/main" id="{FC4C507F-D0FB-E5C0-B840-A9058B267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216" y="4288389"/>
            <a:ext cx="3151250" cy="1789910"/>
          </a:xfrm>
          <a:prstGeom prst="rect">
            <a:avLst/>
          </a:prstGeom>
        </p:spPr>
      </p:pic>
      <p:pic>
        <p:nvPicPr>
          <p:cNvPr id="12" name="Immagine 11" descr="Immagine che contiene testo, Carattere, calligrafia, linea&#10;&#10;Il contenuto generato dall'IA potrebbe non essere corretto.">
            <a:extLst>
              <a:ext uri="{FF2B5EF4-FFF2-40B4-BE49-F238E27FC236}">
                <a16:creationId xmlns:a16="http://schemas.microsoft.com/office/drawing/2014/main" id="{B5902675-5A17-BA13-3B81-3F5CC89A3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0081" y="3986773"/>
            <a:ext cx="3831919" cy="2100833"/>
          </a:xfrm>
          <a:prstGeom prst="rect">
            <a:avLst/>
          </a:prstGeom>
        </p:spPr>
      </p:pic>
      <p:pic>
        <p:nvPicPr>
          <p:cNvPr id="14" name="Immagine 13" descr="Immagine che contiene Carattere, testo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311DA5E1-C696-FF7F-171C-657325644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90" y="3566041"/>
            <a:ext cx="3752850" cy="107632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9B8E156-7468-6E8C-2D76-B8F15B8CFC73}"/>
              </a:ext>
            </a:extLst>
          </p:cNvPr>
          <p:cNvSpPr txBox="1"/>
          <p:nvPr/>
        </p:nvSpPr>
        <p:spPr>
          <a:xfrm>
            <a:off x="826231" y="3198167"/>
            <a:ext cx="1027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New state-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space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description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25888191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F5CBC-5F1D-208F-8BF0-59B6E7534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71AA514F-461C-BCC0-7673-0C4419DA3DF0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8F5ED28-4FCF-4194-064E-CEBDF440D8F6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D25D0F3-E831-8371-C6AA-D5FFAD8374A9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F8BE797-5F9C-182F-6E5D-E76722E4B8BB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3905CEF-7980-C40A-69FF-22404D0AA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14" name="Immagine 13" descr="Immagine che contiene Carattere, testo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9D3FFFC8-3E97-300B-F7B5-1BAF1E776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0" y="3566041"/>
            <a:ext cx="3752850" cy="1076325"/>
          </a:xfrm>
          <a:prstGeom prst="rect">
            <a:avLst/>
          </a:prstGeom>
        </p:spPr>
      </p:pic>
      <p:pic>
        <p:nvPicPr>
          <p:cNvPr id="5" name="Immagine 4" descr="Immagine che contiene testo, Carattere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8BBD2FB5-4AE7-5BDF-BE10-4F96ED9E2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138" y="2110207"/>
            <a:ext cx="3838575" cy="2028825"/>
          </a:xfrm>
          <a:prstGeom prst="rect">
            <a:avLst/>
          </a:prstGeom>
        </p:spPr>
      </p:pic>
      <p:pic>
        <p:nvPicPr>
          <p:cNvPr id="11" name="Immagine 10" descr="Immagine che contiene testo, Carattere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D761BFB-7E51-9AA1-989C-74C2BA2BB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591" y="4244209"/>
            <a:ext cx="5934075" cy="1647825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DCADFCF-DEB3-42DF-EF1A-99C31573210E}"/>
              </a:ext>
            </a:extLst>
          </p:cNvPr>
          <p:cNvSpPr txBox="1"/>
          <p:nvPr/>
        </p:nvSpPr>
        <p:spPr>
          <a:xfrm>
            <a:off x="826231" y="3198167"/>
            <a:ext cx="1027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New state-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space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description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pic>
        <p:nvPicPr>
          <p:cNvPr id="16" name="Immagine 15" descr="Immagine che contiene Carattere, testo, tipografia, calligrafia&#10;&#10;Il contenuto generato dall'IA potrebbe non essere corretto.">
            <a:extLst>
              <a:ext uri="{FF2B5EF4-FFF2-40B4-BE49-F238E27FC236}">
                <a16:creationId xmlns:a16="http://schemas.microsoft.com/office/drawing/2014/main" id="{360293CB-A57A-2B18-85C1-DEEED7D0B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665" y="5010240"/>
            <a:ext cx="2933700" cy="523875"/>
          </a:xfrm>
          <a:prstGeom prst="rect">
            <a:avLst/>
          </a:prstGeom>
        </p:spPr>
      </p:pic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0B9EDDD1-8F42-91DB-8919-A0B0AE9FC446}"/>
              </a:ext>
            </a:extLst>
          </p:cNvPr>
          <p:cNvSpPr/>
          <p:nvPr/>
        </p:nvSpPr>
        <p:spPr>
          <a:xfrm rot="5400000">
            <a:off x="873549" y="4642988"/>
            <a:ext cx="338435" cy="185716"/>
          </a:xfrm>
          <a:prstGeom prst="rightArrow">
            <a:avLst/>
          </a:prstGeom>
          <a:solidFill>
            <a:srgbClr val="F97F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347413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2397-549D-F79A-F752-9A0D7CDF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BBC8C779-2BA2-8D9B-82E0-1C0D7767AFF0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F81EA48-3B53-9E16-F9F4-556F68805976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8599770-89D9-5322-2EC3-D773487A1F08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AEFC0A9-E79B-1C30-38C0-E146A85B4914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F43A19A-362F-DE2D-9160-9AB4AF81A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14" name="Immagine 13" descr="Immagine che contiene Carattere, testo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92ADDAE1-4021-7962-D4D3-97E4AF35F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0" y="3566041"/>
            <a:ext cx="3752850" cy="1076325"/>
          </a:xfrm>
          <a:prstGeom prst="rect">
            <a:avLst/>
          </a:prstGeom>
        </p:spPr>
      </p:pic>
      <p:pic>
        <p:nvPicPr>
          <p:cNvPr id="4" name="Immagine 3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3583BAF2-5CDB-8C3C-C2B6-31CB8DE0C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894" y="2087189"/>
            <a:ext cx="7698644" cy="362997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3E0B7C-BA88-F95B-6E4F-DD528BCA5657}"/>
              </a:ext>
            </a:extLst>
          </p:cNvPr>
          <p:cNvSpPr txBox="1"/>
          <p:nvPr/>
        </p:nvSpPr>
        <p:spPr>
          <a:xfrm>
            <a:off x="826231" y="3198167"/>
            <a:ext cx="1027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New state-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space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description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80993840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0D25-08D8-46E6-D7B1-1DD47FBE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3E38FCCF-AFA0-5AE9-CC2F-870F33885D48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48ADA6-527D-F9FB-E262-F91B836E5CF1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4165B31-7268-314F-295C-7ED2341889FC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1714D5-5954-778C-6CBD-CA9B705BC822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67ACE86-8251-0ABB-CEE6-223CF45D7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5" name="Immagine 4" descr="Immagine che contiene testo, Carattere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54DEAB64-B9BB-F6E4-3D15-19031AB73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088" y="2478108"/>
            <a:ext cx="7658100" cy="1162050"/>
          </a:xfrm>
          <a:prstGeom prst="rect">
            <a:avLst/>
          </a:prstGeom>
        </p:spPr>
      </p:pic>
      <p:pic>
        <p:nvPicPr>
          <p:cNvPr id="10" name="Immagine 9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D8E5B18C-D65F-29E1-A13E-CE99198F6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45" y="3963986"/>
            <a:ext cx="5772150" cy="2095500"/>
          </a:xfrm>
          <a:prstGeom prst="rect">
            <a:avLst/>
          </a:prstGeom>
        </p:spPr>
      </p:pic>
      <p:pic>
        <p:nvPicPr>
          <p:cNvPr id="12" name="Immagine 11" descr="Immagine che contiene testo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31E39E9C-E111-C273-C178-0280C6999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149723"/>
            <a:ext cx="5153025" cy="1724025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2619383-DDCE-C7DB-CF92-11ADF6193193}"/>
              </a:ext>
            </a:extLst>
          </p:cNvPr>
          <p:cNvSpPr txBox="1"/>
          <p:nvPr/>
        </p:nvSpPr>
        <p:spPr>
          <a:xfrm>
            <a:off x="453325" y="2016443"/>
            <a:ext cx="1027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New cost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function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B73A0A2-004D-97E2-241C-F680A5DD4B1C}"/>
              </a:ext>
            </a:extLst>
          </p:cNvPr>
          <p:cNvSpPr/>
          <p:nvPr/>
        </p:nvSpPr>
        <p:spPr>
          <a:xfrm>
            <a:off x="4970206" y="5515897"/>
            <a:ext cx="398207" cy="324884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ECD1BB2-84A5-154B-7163-47B56260114B}"/>
              </a:ext>
            </a:extLst>
          </p:cNvPr>
          <p:cNvSpPr txBox="1"/>
          <p:nvPr/>
        </p:nvSpPr>
        <p:spPr>
          <a:xfrm>
            <a:off x="6891918" y="3132034"/>
            <a:ext cx="3185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P </a:t>
            </a:r>
            <a:r>
              <a:rPr lang="it-IT" sz="28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is</a:t>
            </a:r>
            <a:r>
              <a:rPr lang="it-IT" sz="28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 </a:t>
            </a:r>
            <a:r>
              <a:rPr lang="it-IT" sz="28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chosen</a:t>
            </a:r>
            <a:r>
              <a:rPr lang="it-IT" sz="28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 with </a:t>
            </a:r>
            <a:r>
              <a:rPr lang="it-IT" sz="28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bigger</a:t>
            </a:r>
            <a:r>
              <a:rPr lang="it-IT" sz="28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 weights </a:t>
            </a:r>
            <a:r>
              <a:rPr lang="it-IT" sz="28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than</a:t>
            </a:r>
            <a:r>
              <a:rPr lang="it-IT" sz="28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 Q</a:t>
            </a:r>
          </a:p>
        </p:txBody>
      </p:sp>
    </p:spTree>
    <p:extLst>
      <p:ext uri="{BB962C8B-B14F-4D97-AF65-F5344CB8AC3E}">
        <p14:creationId xmlns:p14="http://schemas.microsoft.com/office/powerpoint/2010/main" val="57321287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7495-D2C3-438C-706E-0B1182EA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A75CA447-CA72-2FB3-E73F-E54B66BF3544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0EA5B7F-2211-7E59-EA53-622D8A4B34FC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8CE17175-02B4-CAFF-E04B-B9463173A43C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905FB4D-CE8B-1E09-4AB2-814449637DEF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DE8BE90-5B17-3F2E-72F5-CE5E55944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5" name="Immagine 4" descr="Immagine che contiene testo, Carattere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EEC33D6B-04BC-96D2-DD96-32DE1E96F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088" y="2478108"/>
            <a:ext cx="7658100" cy="116205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719FA7-E824-A80C-6625-6BB64A0EB34D}"/>
              </a:ext>
            </a:extLst>
          </p:cNvPr>
          <p:cNvSpPr txBox="1"/>
          <p:nvPr/>
        </p:nvSpPr>
        <p:spPr>
          <a:xfrm>
            <a:off x="453325" y="2016443"/>
            <a:ext cx="1027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New cost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function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89E57DAE-FD8B-DB37-E8DB-CFAE56A82ABE}"/>
              </a:ext>
            </a:extLst>
          </p:cNvPr>
          <p:cNvSpPr/>
          <p:nvPr/>
        </p:nvSpPr>
        <p:spPr>
          <a:xfrm rot="5400000">
            <a:off x="3756545" y="4033826"/>
            <a:ext cx="964504" cy="312442"/>
          </a:xfrm>
          <a:prstGeom prst="rightArrow">
            <a:avLst/>
          </a:prstGeom>
          <a:solidFill>
            <a:srgbClr val="F97F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testo, Carattere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A49702A5-03C7-460D-C493-4AE2D73FA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088" y="4734805"/>
            <a:ext cx="5638800" cy="1028700"/>
          </a:xfrm>
          <a:prstGeom prst="rect">
            <a:avLst/>
          </a:prstGeom>
        </p:spPr>
      </p:pic>
      <p:pic>
        <p:nvPicPr>
          <p:cNvPr id="14" name="Immagine 13" descr="Immagine che contiene Carattere, testo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0944E0CE-D9E0-2339-5400-77D02EF996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21" b="49666"/>
          <a:stretch>
            <a:fillRect/>
          </a:stretch>
        </p:blipFill>
        <p:spPr>
          <a:xfrm>
            <a:off x="4583488" y="3830944"/>
            <a:ext cx="3305493" cy="541758"/>
          </a:xfrm>
          <a:prstGeom prst="rect">
            <a:avLst/>
          </a:prstGeom>
          <a:ln w="28575">
            <a:solidFill>
              <a:srgbClr val="F97F05"/>
            </a:solidFill>
          </a:ln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13019DC8-345E-8696-8602-ABD6D58585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9413" b="-1471"/>
          <a:stretch>
            <a:fillRect/>
          </a:stretch>
        </p:blipFill>
        <p:spPr>
          <a:xfrm>
            <a:off x="8918112" y="4700682"/>
            <a:ext cx="2153299" cy="45426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4E3A4122-77BF-AC8F-983D-B00AA6C20A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1436" t="-1471" r="29376"/>
          <a:stretch>
            <a:fillRect/>
          </a:stretch>
        </p:blipFill>
        <p:spPr>
          <a:xfrm>
            <a:off x="8996802" y="5134923"/>
            <a:ext cx="1548580" cy="454261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A5BC3992-57FA-165B-5FD2-C95523C322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756" t="-3125"/>
          <a:stretch>
            <a:fillRect/>
          </a:stretch>
        </p:blipFill>
        <p:spPr>
          <a:xfrm>
            <a:off x="9008631" y="5569162"/>
            <a:ext cx="1551499" cy="461665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4D710411-988E-1479-DB84-AAA4ADA2C193}"/>
              </a:ext>
            </a:extLst>
          </p:cNvPr>
          <p:cNvSpPr/>
          <p:nvPr/>
        </p:nvSpPr>
        <p:spPr>
          <a:xfrm>
            <a:off x="6828503" y="5249155"/>
            <a:ext cx="383458" cy="320007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F50B768-A14A-6758-B53C-A3A950827D68}"/>
              </a:ext>
            </a:extLst>
          </p:cNvPr>
          <p:cNvSpPr txBox="1"/>
          <p:nvPr/>
        </p:nvSpPr>
        <p:spPr>
          <a:xfrm>
            <a:off x="6309477" y="5682045"/>
            <a:ext cx="3185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O </a:t>
            </a:r>
            <a:r>
              <a:rPr lang="it-IT" sz="28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is</a:t>
            </a:r>
            <a:r>
              <a:rPr lang="it-IT" sz="2800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 </a:t>
            </a:r>
            <a:r>
              <a:rPr lang="it-IT" sz="2800" dirty="0" err="1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constant</a:t>
            </a:r>
            <a:endParaRPr lang="it-IT" sz="2800" dirty="0">
              <a:solidFill>
                <a:schemeClr val="accent5">
                  <a:lumMod val="75000"/>
                </a:schemeClr>
              </a:solidFill>
              <a:latin typeface="Rockwell Nova Cond" panose="02060506020205020403" pitchFamily="18" charset="0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0392187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EFEBE-70C1-423B-A9E4-2363790F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1CE33A19-5F48-8DBB-6EC3-A121B821FF6E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64CB86B-3DD1-AD1F-96DF-337FC3EFB8B2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04CDCACA-FA94-124D-3139-7780047C4F73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D97F7F-F724-FF9B-C30D-6DCB2986B7AC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993C12E-7BCC-A49E-E613-8EAA3E4BA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171808F-B0F6-600B-A841-3E101655DFC1}"/>
              </a:ext>
            </a:extLst>
          </p:cNvPr>
          <p:cNvSpPr txBox="1"/>
          <p:nvPr/>
        </p:nvSpPr>
        <p:spPr>
          <a:xfrm>
            <a:off x="575187" y="2507226"/>
            <a:ext cx="102796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In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order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avoid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feasibility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issues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,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authors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decided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use a technique to soft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constraints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They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include some </a:t>
            </a:r>
            <a:r>
              <a:rPr lang="it-IT" sz="2400" i="1" dirty="0" err="1">
                <a:latin typeface="Miriam" panose="020B0502050101010101" pitchFamily="34" charset="-79"/>
                <a:cs typeface="Miriam" panose="020B0502050101010101" pitchFamily="34" charset="-79"/>
              </a:rPr>
              <a:t>slack</a:t>
            </a:r>
            <a:r>
              <a:rPr lang="it-IT" sz="2400" i="1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i="1" dirty="0" err="1">
                <a:latin typeface="Miriam" panose="020B0502050101010101" pitchFamily="34" charset="-79"/>
                <a:cs typeface="Miriam" panose="020B0502050101010101" pitchFamily="34" charset="-79"/>
              </a:rPr>
              <a:t>variables</a:t>
            </a:r>
            <a:r>
              <a:rPr lang="it-IT" sz="2400" i="1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in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optimization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problem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motivation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due to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sensibility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sensors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which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detect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same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object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in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two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different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position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consecutive time instants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noise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output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soften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only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shortly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before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passed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over a short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prediction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horizon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Ns&lt;&lt;N</a:t>
            </a:r>
          </a:p>
        </p:txBody>
      </p:sp>
    </p:spTree>
    <p:extLst>
      <p:ext uri="{BB962C8B-B14F-4D97-AF65-F5344CB8AC3E}">
        <p14:creationId xmlns:p14="http://schemas.microsoft.com/office/powerpoint/2010/main" val="885659278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DBA6-C726-D4B5-68F9-93A4441A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78280C89-42A3-8F33-4BAE-3F22657EAEA7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E23B5E8-7E7B-F81E-F16F-96EF45B42402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B0733AD-BB81-5151-E240-119DD88CFD44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40A91F-BDB7-450D-1D8F-4AD8299CDBC5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CCB9654-73E7-6A2F-D9F2-E30490BF4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4" name="Immagine 3" descr="Immagine che contiene Carattere, linea, numero, diagramma&#10;&#10;Il contenuto generato dall'IA potrebbe non essere corretto.">
            <a:extLst>
              <a:ext uri="{FF2B5EF4-FFF2-40B4-BE49-F238E27FC236}">
                <a16:creationId xmlns:a16="http://schemas.microsoft.com/office/drawing/2014/main" id="{7E3E23BC-9CDD-B011-DF55-748858AB4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561" y="2307525"/>
            <a:ext cx="1266825" cy="9525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1F26BE3-302A-A0FD-2F9A-66FFB0EE2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535" y="2593275"/>
            <a:ext cx="2181225" cy="381000"/>
          </a:xfrm>
          <a:prstGeom prst="rect">
            <a:avLst/>
          </a:prstGeom>
        </p:spPr>
      </p:pic>
      <p:pic>
        <p:nvPicPr>
          <p:cNvPr id="12" name="Immagine 11" descr="Immagine che contiene testo, Carattere, bianco, tipografia&#10;&#10;Il contenuto generato dall'IA potrebbe non essere corretto.">
            <a:extLst>
              <a:ext uri="{FF2B5EF4-FFF2-40B4-BE49-F238E27FC236}">
                <a16:creationId xmlns:a16="http://schemas.microsoft.com/office/drawing/2014/main" id="{99D2D47E-17FE-FB5F-BEB3-64B5B99E4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561" y="3764857"/>
            <a:ext cx="5067300" cy="876300"/>
          </a:xfrm>
          <a:prstGeom prst="rect">
            <a:avLst/>
          </a:prstGeom>
        </p:spPr>
      </p:pic>
      <p:pic>
        <p:nvPicPr>
          <p:cNvPr id="14" name="Immagine 13" descr="Immagine che contiene Carattere, tipografia, linea, testo&#10;&#10;Il contenuto generato dall'IA potrebbe non essere corretto.">
            <a:extLst>
              <a:ext uri="{FF2B5EF4-FFF2-40B4-BE49-F238E27FC236}">
                <a16:creationId xmlns:a16="http://schemas.microsoft.com/office/drawing/2014/main" id="{DC3F719C-8939-77D8-C223-30B7547C4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475" y="5046221"/>
            <a:ext cx="3743325" cy="89535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7AB9CF3-F8FF-2D31-515F-D0972A16691E}"/>
              </a:ext>
            </a:extLst>
          </p:cNvPr>
          <p:cNvSpPr txBox="1"/>
          <p:nvPr/>
        </p:nvSpPr>
        <p:spPr>
          <a:xfrm>
            <a:off x="575187" y="2507226"/>
            <a:ext cx="1027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Slack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variables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: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35735A4-6C2B-4F29-9144-AEAB10C31B28}"/>
              </a:ext>
            </a:extLst>
          </p:cNvPr>
          <p:cNvSpPr txBox="1"/>
          <p:nvPr/>
        </p:nvSpPr>
        <p:spPr>
          <a:xfrm>
            <a:off x="575187" y="3702351"/>
            <a:ext cx="1027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Modified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cost:</a:t>
            </a:r>
          </a:p>
        </p:txBody>
      </p:sp>
      <p:pic>
        <p:nvPicPr>
          <p:cNvPr id="18" name="Immagine 17" descr="Immagine che contiene Carattere, testo, linea, tipografia&#10;&#10;Il contenuto generato dall'IA potrebbe non essere corretto.">
            <a:extLst>
              <a:ext uri="{FF2B5EF4-FFF2-40B4-BE49-F238E27FC236}">
                <a16:creationId xmlns:a16="http://schemas.microsoft.com/office/drawing/2014/main" id="{ACBAAC18-E822-67BA-150D-35653B41DA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7788"/>
          <a:stretch>
            <a:fillRect/>
          </a:stretch>
        </p:blipFill>
        <p:spPr>
          <a:xfrm>
            <a:off x="8378693" y="2888557"/>
            <a:ext cx="2009629" cy="876300"/>
          </a:xfrm>
          <a:prstGeom prst="rect">
            <a:avLst/>
          </a:prstGeom>
        </p:spPr>
      </p:pic>
      <p:pic>
        <p:nvPicPr>
          <p:cNvPr id="21" name="Immagine 20" descr="Immagine che contiene Carattere, testo, linea, tipografia&#10;&#10;Il contenuto generato dall'IA potrebbe non essere corretto.">
            <a:extLst>
              <a:ext uri="{FF2B5EF4-FFF2-40B4-BE49-F238E27FC236}">
                <a16:creationId xmlns:a16="http://schemas.microsoft.com/office/drawing/2014/main" id="{4945B141-B1F7-1D27-13ED-0FF9B41374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483" r="24003"/>
          <a:stretch>
            <a:fillRect/>
          </a:stretch>
        </p:blipFill>
        <p:spPr>
          <a:xfrm>
            <a:off x="8378693" y="3572354"/>
            <a:ext cx="2777151" cy="876300"/>
          </a:xfrm>
          <a:prstGeom prst="rect">
            <a:avLst/>
          </a:prstGeom>
        </p:spPr>
      </p:pic>
      <p:pic>
        <p:nvPicPr>
          <p:cNvPr id="23" name="Immagine 22" descr="Immagine che contiene Carattere, testo, linea, tipografia&#10;&#10;Il contenuto generato dall'IA potrebbe non essere corretto.">
            <a:extLst>
              <a:ext uri="{FF2B5EF4-FFF2-40B4-BE49-F238E27FC236}">
                <a16:creationId xmlns:a16="http://schemas.microsoft.com/office/drawing/2014/main" id="{3E8836F2-E1CC-D089-F465-162B24F389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7816"/>
          <a:stretch>
            <a:fillRect/>
          </a:stretch>
        </p:blipFill>
        <p:spPr>
          <a:xfrm>
            <a:off x="8519752" y="4329329"/>
            <a:ext cx="1384043" cy="876300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6D59808-7C6E-D4D3-599E-67114C966E32}"/>
              </a:ext>
            </a:extLst>
          </p:cNvPr>
          <p:cNvSpPr txBox="1"/>
          <p:nvPr/>
        </p:nvSpPr>
        <p:spPr>
          <a:xfrm>
            <a:off x="575187" y="5209885"/>
            <a:ext cx="755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Slack-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variables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weights:</a:t>
            </a:r>
          </a:p>
        </p:txBody>
      </p:sp>
    </p:spTree>
    <p:extLst>
      <p:ext uri="{BB962C8B-B14F-4D97-AF65-F5344CB8AC3E}">
        <p14:creationId xmlns:p14="http://schemas.microsoft.com/office/powerpoint/2010/main" val="2619247894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E0CB-86B8-D299-185A-45A39B85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349F73DB-D362-7FE2-09A3-8AA30B9B5E70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84C829-DA71-C0A4-394C-F83ADF908241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AD0A73B6-A61D-3CC3-3BB6-5301708A3332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8FC4226-3577-A6D1-A932-5CA2846D00E4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0662B23-8425-E7DB-347B-E2601BD13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E429AC4-3EA9-01CF-BC11-32A3DF181044}"/>
              </a:ext>
            </a:extLst>
          </p:cNvPr>
          <p:cNvSpPr txBox="1"/>
          <p:nvPr/>
        </p:nvSpPr>
        <p:spPr>
          <a:xfrm>
            <a:off x="575187" y="2507226"/>
            <a:ext cx="10279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Let’s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modify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vector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sequence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output for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separating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soft outputs and the hard outputs </a:t>
            </a:r>
          </a:p>
        </p:txBody>
      </p:sp>
      <p:pic>
        <p:nvPicPr>
          <p:cNvPr id="5" name="Immagine 4" descr="Immagine che contiene Carattere, testo, tipografia&#10;&#10;Il contenuto generato dall'IA potrebbe non essere corretto.">
            <a:extLst>
              <a:ext uri="{FF2B5EF4-FFF2-40B4-BE49-F238E27FC236}">
                <a16:creationId xmlns:a16="http://schemas.microsoft.com/office/drawing/2014/main" id="{D257D73D-55D7-A11D-894C-F9D092BE9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63674"/>
            <a:ext cx="3181350" cy="942975"/>
          </a:xfrm>
          <a:prstGeom prst="rect">
            <a:avLst/>
          </a:prstGeom>
        </p:spPr>
      </p:pic>
      <p:pic>
        <p:nvPicPr>
          <p:cNvPr id="10" name="Immagine 9" descr="Immagine che contiene Carattere, testo, tipografia, calligrafia&#10;&#10;Il contenuto generato dall'IA potrebbe non essere corretto.">
            <a:extLst>
              <a:ext uri="{FF2B5EF4-FFF2-40B4-BE49-F238E27FC236}">
                <a16:creationId xmlns:a16="http://schemas.microsoft.com/office/drawing/2014/main" id="{2DE5AEC9-59AA-BE52-DDC2-C39ADFF63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820" y="4387352"/>
            <a:ext cx="2933700" cy="523875"/>
          </a:xfrm>
          <a:prstGeom prst="rect">
            <a:avLst/>
          </a:prstGeom>
        </p:spPr>
      </p:pic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D048F996-8AEF-1545-3B9F-A35CF04B859A}"/>
              </a:ext>
            </a:extLst>
          </p:cNvPr>
          <p:cNvSpPr/>
          <p:nvPr/>
        </p:nvSpPr>
        <p:spPr>
          <a:xfrm>
            <a:off x="4920508" y="4493068"/>
            <a:ext cx="964504" cy="312442"/>
          </a:xfrm>
          <a:prstGeom prst="rightArrow">
            <a:avLst/>
          </a:prstGeom>
          <a:solidFill>
            <a:srgbClr val="F97F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3242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F7BE-EF3F-AACF-0B27-D6FDC24A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B7E1DDB9-2FEE-A7DE-A352-236BA4E62526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46564CC-4C76-07D0-7D07-C82EA9744B46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C0729ECB-01DA-7A92-B736-76F6BED369DE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697C923-3008-DE91-6F39-D50526EA711D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826E9AC-F4F4-95D0-04FD-9595F9812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13" name="Immagine 12" descr="Immagine che contiene Carattere, schermata, linea, testo&#10;&#10;Il contenuto generato dall'IA potrebbe non essere corretto.">
            <a:extLst>
              <a:ext uri="{FF2B5EF4-FFF2-40B4-BE49-F238E27FC236}">
                <a16:creationId xmlns:a16="http://schemas.microsoft.com/office/drawing/2014/main" id="{7DFB3558-B65D-40C4-E01E-05278B6E0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575" y="2488113"/>
            <a:ext cx="8239125" cy="1647825"/>
          </a:xfrm>
          <a:prstGeom prst="rect">
            <a:avLst/>
          </a:prstGeom>
        </p:spPr>
      </p:pic>
      <p:pic>
        <p:nvPicPr>
          <p:cNvPr id="4" name="Immagine 3" descr="Immagine che contiene Carattere, testo, calligrafia, bianco&#10;&#10;Il contenuto generato dall'IA potrebbe non essere corretto.">
            <a:extLst>
              <a:ext uri="{FF2B5EF4-FFF2-40B4-BE49-F238E27FC236}">
                <a16:creationId xmlns:a16="http://schemas.microsoft.com/office/drawing/2014/main" id="{5A28194B-2E80-B857-3AA0-500BEF31C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37" y="4434925"/>
            <a:ext cx="5067300" cy="1114425"/>
          </a:xfrm>
          <a:prstGeom prst="rect">
            <a:avLst/>
          </a:prstGeom>
        </p:spPr>
      </p:pic>
      <p:pic>
        <p:nvPicPr>
          <p:cNvPr id="11" name="Immagine 10" descr="Immagine che contiene Carattere, tipografia, testo, calligrafia&#10;&#10;Il contenuto generato dall'IA potrebbe non essere corretto.">
            <a:extLst>
              <a:ext uri="{FF2B5EF4-FFF2-40B4-BE49-F238E27FC236}">
                <a16:creationId xmlns:a16="http://schemas.microsoft.com/office/drawing/2014/main" id="{71595ECB-44C4-B27E-9EB2-8AEC35DAC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428" y="4730199"/>
            <a:ext cx="320992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88124"/>
      </p:ext>
    </p:extLst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837F-F682-D865-AD1D-A76A3DBD4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24B039D1-03E5-2A33-C1C5-0CFABB65FA99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2BFCF0E-4705-EC67-EE38-13BD2609F045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3B2279A-115E-5203-0671-CE6D51DE2F18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AD45DEB-A06B-8F4B-D276-53675AAE26F6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46D7796-52AA-DBEA-66ED-BADE0B78B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5" name="Immagine 4" descr="Immagine che contiene testo, Carattere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E76B981A-36F5-45BC-589D-88392AFBD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358" y="2642726"/>
            <a:ext cx="6057900" cy="3371850"/>
          </a:xfrm>
          <a:prstGeom prst="rect">
            <a:avLst/>
          </a:prstGeom>
        </p:spPr>
      </p:pic>
      <p:pic>
        <p:nvPicPr>
          <p:cNvPr id="10" name="Immagine 9" descr="Immagine che contiene testo, Carattere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2E670178-5D7A-0AE6-2679-D40986DAD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64" y="2193832"/>
            <a:ext cx="5829300" cy="10858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86831E1-147E-1C83-8B17-287DFE49752C}"/>
              </a:ext>
            </a:extLst>
          </p:cNvPr>
          <p:cNvSpPr txBox="1"/>
          <p:nvPr/>
        </p:nvSpPr>
        <p:spPr>
          <a:xfrm>
            <a:off x="453325" y="3728576"/>
            <a:ext cx="462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Let’s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modify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also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constraints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36745340"/>
      </p:ext>
    </p:extLst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CAE1A-C0A4-C7B5-BA31-B9472049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ADA1F390-A465-05EC-AB34-21FFE5F1CA8C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27BD355-808C-C913-6F14-605ECEE22E7F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5. CONSTRAINT OPTIMAL CONTROL PROBLEM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CD1C79D-31ED-B32E-D0D3-7C3A944A914E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1D027F-2BF3-79E6-AAA1-AF8F5D21CC84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DB0E4A9-FB89-B516-1955-357C3987C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pic>
        <p:nvPicPr>
          <p:cNvPr id="4" name="Immagine 3" descr="Immagine che contiene Carattere, tipografia, numero, linea&#10;&#10;Il contenuto generato dall'IA potrebbe non essere corretto.">
            <a:extLst>
              <a:ext uri="{FF2B5EF4-FFF2-40B4-BE49-F238E27FC236}">
                <a16:creationId xmlns:a16="http://schemas.microsoft.com/office/drawing/2014/main" id="{0976E707-2756-EA41-7053-1A5254738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751" y="2014811"/>
            <a:ext cx="1651575" cy="580899"/>
          </a:xfrm>
          <a:prstGeom prst="rect">
            <a:avLst/>
          </a:prstGeom>
        </p:spPr>
      </p:pic>
      <p:pic>
        <p:nvPicPr>
          <p:cNvPr id="11" name="Immagine 10" descr="Immagine che contiene testo, calligrafi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6EA52FC1-6E9A-0A30-4EE0-7B6C638B8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370" y="3179230"/>
            <a:ext cx="4295775" cy="2552700"/>
          </a:xfrm>
          <a:prstGeom prst="rect">
            <a:avLst/>
          </a:prstGeom>
        </p:spPr>
      </p:pic>
      <p:pic>
        <p:nvPicPr>
          <p:cNvPr id="14" name="Immagine 13" descr="Immagine che contiene testo, Carattere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F8C22A7-13CC-894C-B680-6A0C13A32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857" y="3151416"/>
            <a:ext cx="4333875" cy="2600325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04E89FF-5E53-B180-62D8-091CF511F97B}"/>
              </a:ext>
            </a:extLst>
          </p:cNvPr>
          <p:cNvSpPr txBox="1"/>
          <p:nvPr/>
        </p:nvSpPr>
        <p:spPr>
          <a:xfrm>
            <a:off x="331463" y="2014813"/>
            <a:ext cx="490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Dense form of the system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constraints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12917930"/>
      </p:ext>
    </p:extLst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467A5-7300-8E01-05D4-A910ACEB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6032762A-C282-6CCE-EC50-7B6608431809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0DC5F6F-4E28-5D28-1F3A-5240CDFBE4B8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AF3F5D6-C9EB-2921-54F2-258984253C45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08551DC-A60B-23D8-4BA9-BAAAAC2CAFC6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47B9B05-38ED-CE53-E375-30CE43C55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91C14F2-5371-2248-E781-3A3319BDD95E}"/>
              </a:ext>
            </a:extLst>
          </p:cNvPr>
          <p:cNvSpPr txBox="1"/>
          <p:nvPr/>
        </p:nvSpPr>
        <p:spPr>
          <a:xfrm>
            <a:off x="575187" y="2507226"/>
            <a:ext cx="102796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tested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code in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three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different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environments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results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the paper show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perfectly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optimization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trajectory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in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different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conditions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I simulate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four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different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environments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Straigth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road with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Sine() road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Roundabout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Parking scenario with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different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objects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5717724"/>
      </p:ext>
    </p:extLst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AB85-C50A-8760-1928-FC3E43CC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F43E5F98-42EE-BDA7-6C95-0ACF9A0B034C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5757FA9-105A-61CB-0DD0-389959D96173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0BC1B43-10A9-0483-3910-CE1FC45D38E3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5C2421-715F-F81C-9D86-F29C6583C193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87F7872-D33D-E4A3-6CD0-CDB8BC2D3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8CB3560-88A6-0D25-E57C-BB572BD878AD}"/>
              </a:ext>
            </a:extLst>
          </p:cNvPr>
          <p:cNvSpPr txBox="1"/>
          <p:nvPr/>
        </p:nvSpPr>
        <p:spPr>
          <a:xfrm>
            <a:off x="575187" y="2796026"/>
            <a:ext cx="38640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40m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straight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road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8m/s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an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unplanned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object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8557EB3-73A5-ED1D-E182-CD03DD90A73B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STRAIGHT ROAD</a:t>
            </a:r>
          </a:p>
        </p:txBody>
      </p:sp>
      <p:pic>
        <p:nvPicPr>
          <p:cNvPr id="5" name="Immagine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CDA7AA7-97AA-CF33-FF76-F107C87D1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05" y="2027630"/>
            <a:ext cx="6241788" cy="419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17403"/>
      </p:ext>
    </p:extLst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4083-5BBD-0D95-76E9-D62E6D37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387D3621-3BAE-E58E-8F67-EB22971C161F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7CCAEA0-5CAB-3A94-4620-0EBB166BF615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A823354-48A9-3028-4159-0B83F2D65045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B00BDCC-FD9E-35C5-CE07-559073EF1EB3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5B2633B-4638-0893-1B5D-49C47C7AD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F1AFFB8-F554-7B50-0D94-EB9CBD555072}"/>
              </a:ext>
            </a:extLst>
          </p:cNvPr>
          <p:cNvSpPr txBox="1"/>
          <p:nvPr/>
        </p:nvSpPr>
        <p:spPr>
          <a:xfrm>
            <a:off x="575187" y="2796026"/>
            <a:ext cx="38640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40m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straight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road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8m/s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an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unplanned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object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4BCDD0-0119-81A5-8C32-C73EFFACDF31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STRAIGHT ROAD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2D5470D-48B3-27A2-7555-38434D5E5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4405" y="2046944"/>
            <a:ext cx="6241788" cy="415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1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A97EB-7E01-61FE-062D-2C94B89B6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B9A4799C-727F-BF69-6848-72ECDCCEF29A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ADD4E49-328D-3173-CCC1-A4CF51501FB3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83C3BD6-4AAF-E24D-030B-65FF93EE0E41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0DB17B7-AA8F-724A-79F4-E9CD1E538C9E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75D0107-D1BC-8CAF-8690-A2B8F0025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4F99177-1863-3666-7619-891F7FB8C152}"/>
              </a:ext>
            </a:extLst>
          </p:cNvPr>
          <p:cNvSpPr txBox="1"/>
          <p:nvPr/>
        </p:nvSpPr>
        <p:spPr>
          <a:xfrm>
            <a:off x="575187" y="2796026"/>
            <a:ext cx="38640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60m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generated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by a sine()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function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Amplitude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Wavelength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30m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20m/s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there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are no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C08963D-12AE-A7D4-E943-B0C241578118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SINE() ROAD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C1B42E-AA5C-7A7F-6460-223D4E13C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4405" y="2050595"/>
            <a:ext cx="6241788" cy="41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3429"/>
      </p:ext>
    </p:extLst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D324-CD85-B027-1511-1FCEF7412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C02AE86F-1786-469C-8925-66E125B38352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DE9E1EB-B828-0CD7-3155-E3872281113C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CC7AC9B-ADED-0D89-E527-E00C7FC3E577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98B53DA-6029-66BF-32F8-20C36A84F07A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03A61C3-C83D-45FC-8C9A-45B43C0D3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D48C118-8E16-F0C9-6BEC-FCFDEE5B8284}"/>
              </a:ext>
            </a:extLst>
          </p:cNvPr>
          <p:cNvSpPr txBox="1"/>
          <p:nvPr/>
        </p:nvSpPr>
        <p:spPr>
          <a:xfrm>
            <a:off x="575187" y="2796026"/>
            <a:ext cx="38640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60m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generated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by a sine()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function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Amplitude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Wavelength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30m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20m/s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there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are no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4B7D5EF-9DF4-46EC-5E5E-094E8667E547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SINE() ROAD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F37CF75-8811-0ACD-049F-1509ACF5D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9765" y="2682570"/>
            <a:ext cx="6151067" cy="288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7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69055-E6F7-B393-8CF9-244617DA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910297A3-45CE-8C56-8C72-B0AAD95C1095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DB35425-68D6-9EBC-EDCF-42FB0AB8032F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4E53B07-E09D-106F-F04B-55A4BE6931B3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8497FE9-5114-A431-E5D3-C4B6B10A76F3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24FAF0A-56AB-66F5-CEE7-774FEDBA7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FFDA3A8-977D-CD58-E729-D8062CBF5430}"/>
              </a:ext>
            </a:extLst>
          </p:cNvPr>
          <p:cNvSpPr txBox="1"/>
          <p:nvPr/>
        </p:nvSpPr>
        <p:spPr>
          <a:xfrm>
            <a:off x="575187" y="2796026"/>
            <a:ext cx="38640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60m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generated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by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exp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()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function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Amplitude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Mean of 30m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Variance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20m/s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there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are no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AEF55E3-41F9-54C7-98E0-B7FF4898AE1C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ROUNDABOUT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D9FD2E3-3E0D-953D-0602-42D4DE13A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6924" y="2048921"/>
            <a:ext cx="6236750" cy="415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22384"/>
      </p:ext>
    </p:extLst>
  </p:cSld>
  <p:clrMapOvr>
    <a:masterClrMapping/>
  </p:clrMapOvr>
  <p:transition spd="slow"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27592-AE3C-35BF-066E-E91D48FD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5C65645D-6728-D7A6-1F82-74E3EF4E5565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F80EDC-2040-360C-B662-CD9A9D5D391E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92946C7-5FE3-8A30-3B2B-1DA9718EB4A9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60DEF15-4CAC-D66F-FC0E-AE194EAB9106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43C2FD5-B437-37EF-B07E-76B76FA7E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13633AB-22D7-D745-7E63-EED1AEE84192}"/>
              </a:ext>
            </a:extLst>
          </p:cNvPr>
          <p:cNvSpPr txBox="1"/>
          <p:nvPr/>
        </p:nvSpPr>
        <p:spPr>
          <a:xfrm>
            <a:off x="575187" y="2796026"/>
            <a:ext cx="386407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60m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generated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by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exp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()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function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Amplitude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Mean of 30m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Variance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20m/s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there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are no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A23731B-9045-0DD1-ADEF-A9BE6E7AF501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ROUNDABOUT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34E8916-7223-48F8-5D8E-C4D702850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1750" y="2674349"/>
            <a:ext cx="6207098" cy="290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0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D9405-D75B-398A-9D1D-C17D6A7C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81657CA4-85B7-5EAA-D02A-573A7B23BC72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2146FE0-F36A-1015-E161-769DD6E07C79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CB744731-AD6D-5A04-BCC3-B80ECFE91711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76F8D0-88D0-372E-DDCC-56D7889A10F8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6C94D75-DF38-6B4F-A42E-1AEAC38DB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2BFFCDD-13DA-E859-9AA5-EB4186D0E2DD}"/>
              </a:ext>
            </a:extLst>
          </p:cNvPr>
          <p:cNvSpPr txBox="1"/>
          <p:nvPr/>
        </p:nvSpPr>
        <p:spPr>
          <a:xfrm>
            <a:off x="575187" y="2796026"/>
            <a:ext cx="38640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Conjuction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two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straight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road with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circumference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5m/s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there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are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lot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FA017A7-03FA-025B-A875-ECD3007F6A04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PARKING SCENARIO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EB95F9C-52DD-05E5-8697-8FDE04734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74783" y="2048921"/>
            <a:ext cx="6141032" cy="415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76270"/>
      </p:ext>
    </p:extLst>
  </p:cSld>
  <p:clrMapOvr>
    <a:masterClrMapping/>
  </p:clrMapOvr>
  <p:transition spd="slow">
    <p:push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288C-EDDD-BE03-0FFB-EC9F41C5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B6E97F57-F7EA-C577-E9ED-EFE22365205B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2420E23-320F-B333-2890-31BC335F8423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15A98E3-365C-591E-DC3A-890270C617BB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938C039-6C8C-C21B-C072-8F2C91055502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01F06E2-0765-EE8B-4206-E07FE78EA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0DFD25F-17A1-81B8-5A76-547FBCAB72B3}"/>
              </a:ext>
            </a:extLst>
          </p:cNvPr>
          <p:cNvSpPr txBox="1"/>
          <p:nvPr/>
        </p:nvSpPr>
        <p:spPr>
          <a:xfrm>
            <a:off x="575187" y="2796026"/>
            <a:ext cx="38640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Conjuction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two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straight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road with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circumference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Mamimum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velocity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5m/s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because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there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are a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lot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185A02-F34F-0D60-3F3A-65F16A9D3E6A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PARKING SCENARIO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8458637-0F8C-D8EE-6AC6-8732C7795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74783" y="2697757"/>
            <a:ext cx="6141032" cy="285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89F0E-798C-4FF6-EED1-9F523425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0A4956DA-3B13-C6BF-6B49-F517795869F4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59B7AE-CE49-25B9-72CB-EAD1A41BEC0A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C7BF83B7-8CBA-74A6-24F1-67DD37F1D0A5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3FF4F42-3D01-FDDB-268F-1BF40192F9AF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5D00B26-6429-F1B3-1C43-75967155E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B554E0-F9A7-6527-F923-43ED32F915BE}"/>
              </a:ext>
            </a:extLst>
          </p:cNvPr>
          <p:cNvSpPr txBox="1"/>
          <p:nvPr/>
        </p:nvSpPr>
        <p:spPr>
          <a:xfrm>
            <a:off x="575187" y="2796026"/>
            <a:ext cx="386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...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AEA4D61-4DFA-7C8B-3EFA-439DC1537C3D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LEMNISCATE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5106F0F-9E5E-16E7-512E-FBCA7559F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74783" y="2065809"/>
            <a:ext cx="6141032" cy="41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24582"/>
      </p:ext>
    </p:extLst>
  </p:cSld>
  <p:clrMapOvr>
    <a:masterClrMapping/>
  </p:clrMapOvr>
  <p:transition spd="slow">
    <p:push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BBD1-DCF5-82E6-E30B-0B62EF9D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4FA9B5A5-B559-7961-B8DB-B26AC1A128EE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F7F607F-8F07-0C5C-4AB6-36F61282F965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7D700037-30FE-45FE-1F57-72BCA3A176E0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842C33A-26B6-F465-6848-9DAA5389D563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A236253-F7ED-0E5D-DBA3-013F27C57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5C41587-FE16-98A3-9D18-4FA17709E83E}"/>
              </a:ext>
            </a:extLst>
          </p:cNvPr>
          <p:cNvSpPr txBox="1"/>
          <p:nvPr/>
        </p:nvSpPr>
        <p:spPr>
          <a:xfrm>
            <a:off x="575187" y="2796026"/>
            <a:ext cx="386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...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64917EA-BB89-D804-155E-2AF8F0B28F28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LEMNISCATE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6926210-4512-8FCB-718A-6FF5549BE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8266" y="2697757"/>
            <a:ext cx="6094065" cy="285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0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F2BB-D8D6-8F51-93D4-F47C3C39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DBA9A22F-1692-32EC-A2EC-5D35EE77F2E9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8585AB-05F6-81C3-3AF9-C44D21F6EBE3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E3C939C9-53D5-1C29-FEE6-E8E715848D1C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97BD6E1-E681-336B-30B5-40D5F6CB0A32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4977C72-4C92-B2F9-4423-BBAB8496D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54B37B9-5E19-F614-C970-EDC94C257B62}"/>
              </a:ext>
            </a:extLst>
          </p:cNvPr>
          <p:cNvSpPr txBox="1"/>
          <p:nvPr/>
        </p:nvSpPr>
        <p:spPr>
          <a:xfrm>
            <a:off x="575187" y="2796026"/>
            <a:ext cx="386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...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6B6C3B1-A8A7-3F7E-6EB4-CAD57F1D675A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SIMPLE CURVE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E1BAAF6-CC4B-1447-1D81-0DCFE4BF8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9767" y="2065809"/>
            <a:ext cx="6091064" cy="41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63157"/>
      </p:ext>
    </p:extLst>
  </p:cSld>
  <p:clrMapOvr>
    <a:masterClrMapping/>
  </p:clrMapOvr>
  <p:transition spd="slow">
    <p:push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CA8D-9520-1FAB-FB59-96C9FC44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AF03463E-5F78-5EB0-CDCC-AEFFEDEDA1EA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338773A-64CF-B769-DBED-AE46733F5F77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6. RESULTS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DDA4DC56-171B-98EE-9012-668881676A7A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4A91F9C-BBA2-6F49-D554-40693A54B49C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8E7AF3D-61F7-466A-163E-19EE5F31C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7D72F6C-1F62-38F9-63C3-F81B36B69622}"/>
              </a:ext>
            </a:extLst>
          </p:cNvPr>
          <p:cNvSpPr txBox="1"/>
          <p:nvPr/>
        </p:nvSpPr>
        <p:spPr>
          <a:xfrm>
            <a:off x="575187" y="2796026"/>
            <a:ext cx="386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...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8EA2C60-F25A-ECA7-0768-74B1913E87C1}"/>
              </a:ext>
            </a:extLst>
          </p:cNvPr>
          <p:cNvSpPr txBox="1"/>
          <p:nvPr/>
        </p:nvSpPr>
        <p:spPr>
          <a:xfrm>
            <a:off x="559971" y="2087189"/>
            <a:ext cx="1029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u="sng" dirty="0">
                <a:solidFill>
                  <a:schemeClr val="accent5">
                    <a:lumMod val="75000"/>
                  </a:schemeClr>
                </a:solidFill>
                <a:latin typeface="Rockwell Nova Cond" panose="02060506020205020403" pitchFamily="18" charset="0"/>
                <a:cs typeface="Miriam" panose="020B0502050101010101" pitchFamily="34" charset="-79"/>
              </a:rPr>
              <a:t>SIMPLE CURVE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5EB559E-5E3B-6D14-EF9B-5D8C418CE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8266" y="2706762"/>
            <a:ext cx="6094065" cy="283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9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8EDF-B620-1B70-3361-1657EF0A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09457D6E-1317-604D-E2D6-89A9DA827761}"/>
              </a:ext>
            </a:extLst>
          </p:cNvPr>
          <p:cNvSpPr/>
          <p:nvPr/>
        </p:nvSpPr>
        <p:spPr>
          <a:xfrm>
            <a:off x="-159657" y="275120"/>
            <a:ext cx="12874171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FCC9F5-9419-1B07-A882-404878886C08}"/>
              </a:ext>
            </a:extLst>
          </p:cNvPr>
          <p:cNvSpPr txBox="1">
            <a:spLocks/>
          </p:cNvSpPr>
          <p:nvPr/>
        </p:nvSpPr>
        <p:spPr>
          <a:xfrm>
            <a:off x="331464" y="598946"/>
            <a:ext cx="10523349" cy="84058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5100" dirty="0">
                <a:latin typeface="Rockwell Nova Cond" panose="02060506020205020403" pitchFamily="18" charset="0"/>
                <a:cs typeface="Aharoni" panose="020F0502020204030204" pitchFamily="2" charset="-79"/>
              </a:rPr>
              <a:t>CONCLUSION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47782FC4-1293-A3DE-4C54-A6AB49658863}"/>
              </a:ext>
            </a:extLst>
          </p:cNvPr>
          <p:cNvCxnSpPr>
            <a:cxnSpLocks/>
          </p:cNvCxnSpPr>
          <p:nvPr/>
        </p:nvCxnSpPr>
        <p:spPr>
          <a:xfrm>
            <a:off x="-159657" y="6445045"/>
            <a:ext cx="12351657" cy="0"/>
          </a:xfrm>
          <a:prstGeom prst="line">
            <a:avLst/>
          </a:prstGeom>
          <a:ln w="28575">
            <a:solidFill>
              <a:srgbClr val="8518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5945470-8F5B-E4AC-BB80-3EB9C45F489C}"/>
              </a:ext>
            </a:extLst>
          </p:cNvPr>
          <p:cNvSpPr txBox="1"/>
          <p:nvPr/>
        </p:nvSpPr>
        <p:spPr>
          <a:xfrm>
            <a:off x="8128216" y="6507552"/>
            <a:ext cx="2260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solidFill>
                  <a:srgbClr val="5C6884"/>
                </a:solidFill>
                <a:latin typeface="Rockwell Nova Cond" panose="02060506020205020403" pitchFamily="18" charset="0"/>
              </a:rPr>
              <a:t>michelangelo.pozza@studenti.units.it 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062CA77-6502-8035-C6F1-036F0BE83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22" y="6550223"/>
            <a:ext cx="1435071" cy="22243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DD466E-1B98-A5A7-A0D3-E60203493548}"/>
              </a:ext>
            </a:extLst>
          </p:cNvPr>
          <p:cNvSpPr txBox="1"/>
          <p:nvPr/>
        </p:nvSpPr>
        <p:spPr>
          <a:xfrm>
            <a:off x="575187" y="2507226"/>
            <a:ext cx="102796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Difficulty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generate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real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world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curves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with good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properties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LMPC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worked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well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on the non-linear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Slack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variables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guarantees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a good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margin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of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feasibility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Stability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assumed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be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true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using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some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empirical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choices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like P and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Authors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implement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code in C over a on-board pc and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tested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it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in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real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-world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environment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simulation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seems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work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well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,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vehicle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was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able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to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avoid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obstacles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while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optimizing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the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nominal</a:t>
            </a:r>
            <a:r>
              <a:rPr lang="it-IT" sz="2400" dirty="0">
                <a:latin typeface="Miriam" panose="020B0502050101010101" pitchFamily="34" charset="-79"/>
                <a:cs typeface="Miriam" panose="020B0502050101010101" pitchFamily="34" charset="-79"/>
              </a:rPr>
              <a:t> </a:t>
            </a:r>
            <a:r>
              <a:rPr lang="it-IT" sz="2400" dirty="0" err="1">
                <a:latin typeface="Miriam" panose="020B0502050101010101" pitchFamily="34" charset="-79"/>
                <a:cs typeface="Miriam" panose="020B0502050101010101" pitchFamily="34" charset="-79"/>
              </a:rPr>
              <a:t>trajectory</a:t>
            </a: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>
              <a:latin typeface="Miriam" panose="020B0502050101010101" pitchFamily="34" charset="-79"/>
              <a:cs typeface="Miriam" panose="020B050205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61439321"/>
      </p:ext>
    </p:extLst>
  </p:cSld>
  <p:clrMapOvr>
    <a:masterClrMapping/>
  </p:clrMapOvr>
  <p:transition spd="slow">
    <p:push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06F4-BD6A-C414-9E32-507250E3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E5B3C88E-2C78-5501-DE81-D8F2F99301B2}"/>
              </a:ext>
            </a:extLst>
          </p:cNvPr>
          <p:cNvSpPr/>
          <p:nvPr/>
        </p:nvSpPr>
        <p:spPr>
          <a:xfrm>
            <a:off x="1140028" y="2595616"/>
            <a:ext cx="11234057" cy="19993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A9B73D2-0D40-D1DD-D393-AF0223B4D921}"/>
              </a:ext>
            </a:extLst>
          </p:cNvPr>
          <p:cNvSpPr txBox="1">
            <a:spLocks/>
          </p:cNvSpPr>
          <p:nvPr/>
        </p:nvSpPr>
        <p:spPr>
          <a:xfrm>
            <a:off x="886259" y="2751380"/>
            <a:ext cx="10909640" cy="1687814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9600" dirty="0">
                <a:latin typeface="Rockwell Nova Cond" panose="02060506020205020403" pitchFamily="18" charset="0"/>
                <a:cs typeface="Aharoni" panose="020F0502020204030204" pitchFamily="2" charset="-79"/>
              </a:rPr>
              <a:t>THANKS!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5B84338-750E-E52D-2FB0-ECE342507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908" y="520174"/>
            <a:ext cx="6439588" cy="998136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796295C3-706E-7A3E-2D30-B422063B44C6}"/>
              </a:ext>
            </a:extLst>
          </p:cNvPr>
          <p:cNvSpPr/>
          <p:nvPr/>
        </p:nvSpPr>
        <p:spPr>
          <a:xfrm>
            <a:off x="-546368" y="275120"/>
            <a:ext cx="945978" cy="1488243"/>
          </a:xfrm>
          <a:prstGeom prst="rect">
            <a:avLst/>
          </a:prstGeom>
          <a:solidFill>
            <a:srgbClr val="F97F0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3118585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1753</Words>
  <Application>Microsoft Office PowerPoint</Application>
  <PresentationFormat>Widescreen</PresentationFormat>
  <Paragraphs>241</Paragraphs>
  <Slides>50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50</vt:i4>
      </vt:variant>
    </vt:vector>
  </HeadingPairs>
  <TitlesOfParts>
    <vt:vector size="56" baseType="lpstr">
      <vt:lpstr>Aptos</vt:lpstr>
      <vt:lpstr>Aptos Display</vt:lpstr>
      <vt:lpstr>Arial</vt:lpstr>
      <vt:lpstr>Miriam</vt:lpstr>
      <vt:lpstr>Rockwell Nova Cond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POZZA MICHELANGELO [IN2300012]</dc:creator>
  <cp:lastModifiedBy>POZZA MICHELANGELO [IN2300012]</cp:lastModifiedBy>
  <cp:revision>8</cp:revision>
  <dcterms:created xsi:type="dcterms:W3CDTF">2026-03-08T21:17:48Z</dcterms:created>
  <dcterms:modified xsi:type="dcterms:W3CDTF">2026-04-17T12:46:44Z</dcterms:modified>
</cp:coreProperties>
</file>